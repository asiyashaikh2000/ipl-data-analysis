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Old Standard TT"/>
      <p:regular r:id="rId27"/>
      <p:bold r:id="rId28"/>
      <p: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OldStandardTT-bold.fntdata"/><Relationship Id="rId27" Type="http://schemas.openxmlformats.org/officeDocument/2006/relationships/font" Target="fonts/OldStandardT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ldStandardTT-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813656791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813656791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5813656791_0_1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5813656791_0_1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5813656791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5813656791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5819f8e2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5819f8e2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5813656791_0_1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5813656791_0_1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819f8e2c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819f8e2c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813656791_0_1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813656791_0_1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813656791_0_1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813656791_0_1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813656791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5813656791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5813656791_0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5813656791_0_1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5813656791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5813656791_0_1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5813656791_0_1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5813656791_0_1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813656791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5813656791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813656791_0_1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5813656791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5813656791_0_1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5813656791_0_1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5813656791_0_1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5813656791_0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813656791_0_1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5813656791_0_1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813656791_0_1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813656791_0_1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813656791_0_1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5813656791_0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813656791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813656791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209325" y="248375"/>
            <a:ext cx="5967600" cy="1029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4800">
                <a:solidFill>
                  <a:schemeClr val="lt1"/>
                </a:solidFill>
                <a:latin typeface="Times New Roman"/>
                <a:ea typeface="Times New Roman"/>
                <a:cs typeface="Times New Roman"/>
                <a:sym typeface="Times New Roman"/>
              </a:rPr>
              <a:t>IPL Analysis</a:t>
            </a:r>
            <a:endParaRPr b="1" sz="4800">
              <a:solidFill>
                <a:schemeClr val="lt1"/>
              </a:solidFill>
              <a:latin typeface="Times New Roman"/>
              <a:ea typeface="Times New Roman"/>
              <a:cs typeface="Times New Roman"/>
              <a:sym typeface="Times New Roman"/>
            </a:endParaRPr>
          </a:p>
        </p:txBody>
      </p:sp>
      <p:sp>
        <p:nvSpPr>
          <p:cNvPr id="60" name="Google Shape;60;p13"/>
          <p:cNvSpPr txBox="1"/>
          <p:nvPr>
            <p:ph idx="1" type="subTitle"/>
          </p:nvPr>
        </p:nvSpPr>
        <p:spPr>
          <a:xfrm>
            <a:off x="209325" y="1923825"/>
            <a:ext cx="6479100" cy="1824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lt1"/>
                </a:solidFill>
                <a:latin typeface="Times New Roman"/>
                <a:ea typeface="Times New Roman"/>
                <a:cs typeface="Times New Roman"/>
                <a:sym typeface="Times New Roman"/>
              </a:rPr>
              <a:t>Season-wise Team &amp; Player Performance Metrics</a:t>
            </a:r>
            <a:endParaRPr>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b="1" lang="en">
                <a:solidFill>
                  <a:schemeClr val="lt1"/>
                </a:solidFill>
                <a:latin typeface="Times New Roman"/>
                <a:ea typeface="Times New Roman"/>
                <a:cs typeface="Times New Roman"/>
                <a:sym typeface="Times New Roman"/>
              </a:rPr>
              <a:t>Asiya Shaikh</a:t>
            </a:r>
            <a:endParaRPr b="1">
              <a:solidFill>
                <a:schemeClr val="lt1"/>
              </a:solidFill>
              <a:latin typeface="Times New Roman"/>
              <a:ea typeface="Times New Roman"/>
              <a:cs typeface="Times New Roman"/>
              <a:sym typeface="Times New Roman"/>
            </a:endParaRPr>
          </a:p>
        </p:txBody>
      </p:sp>
      <p:pic>
        <p:nvPicPr>
          <p:cNvPr id="61" name="Google Shape;61;p13"/>
          <p:cNvPicPr preferRelativeResize="0"/>
          <p:nvPr/>
        </p:nvPicPr>
        <p:blipFill>
          <a:blip r:embed="rId3">
            <a:alphaModFix/>
          </a:blip>
          <a:stretch>
            <a:fillRect/>
          </a:stretch>
        </p:blipFill>
        <p:spPr>
          <a:xfrm>
            <a:off x="6369450" y="2352450"/>
            <a:ext cx="2512075" cy="2512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Agenda</a:t>
            </a:r>
            <a:endParaRPr b="1">
              <a:latin typeface="Times New Roman"/>
              <a:ea typeface="Times New Roman"/>
              <a:cs typeface="Times New Roman"/>
              <a:sym typeface="Times New Roman"/>
            </a:endParaRPr>
          </a:p>
        </p:txBody>
      </p:sp>
      <p:sp>
        <p:nvSpPr>
          <p:cNvPr id="67" name="Google Shape;67;p14"/>
          <p:cNvSpPr txBox="1"/>
          <p:nvPr>
            <p:ph idx="1" type="body"/>
          </p:nvPr>
        </p:nvSpPr>
        <p:spPr>
          <a:xfrm>
            <a:off x="311700" y="1171600"/>
            <a:ext cx="4193700" cy="33972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Introduction to IPL</a:t>
            </a:r>
            <a:endParaRPr sz="14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Problem Statemen</a:t>
            </a:r>
            <a:r>
              <a:rPr lang="en" sz="1400">
                <a:latin typeface="Times New Roman"/>
                <a:ea typeface="Times New Roman"/>
                <a:cs typeface="Times New Roman"/>
                <a:sym typeface="Times New Roman"/>
              </a:rPr>
              <a:t>t</a:t>
            </a:r>
            <a:endParaRPr sz="14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Database Schema</a:t>
            </a:r>
            <a:endParaRPr sz="14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Data Description</a:t>
            </a:r>
            <a:endParaRPr sz="14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Methodology</a:t>
            </a:r>
            <a:endParaRPr sz="14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Player Performance Metrics</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Venue-Based Insights</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Team Performance Analysis</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Season-Wise Trends</a:t>
            </a:r>
            <a:endParaRPr sz="14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Future of IPL</a:t>
            </a:r>
            <a:endParaRPr sz="1400">
              <a:latin typeface="Times New Roman"/>
              <a:ea typeface="Times New Roman"/>
              <a:cs typeface="Times New Roman"/>
              <a:sym typeface="Times New Roman"/>
            </a:endParaRPr>
          </a:p>
          <a:p>
            <a:pPr indent="-317500" lvl="0" marL="457200" rtl="0" algn="l">
              <a:lnSpc>
                <a:spcPct val="10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References</a:t>
            </a:r>
            <a:endParaRPr sz="1400">
              <a:latin typeface="Times New Roman"/>
              <a:ea typeface="Times New Roman"/>
              <a:cs typeface="Times New Roman"/>
              <a:sym typeface="Times New Roman"/>
            </a:endParaRPr>
          </a:p>
        </p:txBody>
      </p:sp>
      <p:pic>
        <p:nvPicPr>
          <p:cNvPr id="68" name="Google Shape;68;p14"/>
          <p:cNvPicPr preferRelativeResize="0"/>
          <p:nvPr/>
        </p:nvPicPr>
        <p:blipFill>
          <a:blip r:embed="rId3">
            <a:alphaModFix/>
          </a:blip>
          <a:stretch>
            <a:fillRect/>
          </a:stretch>
        </p:blipFill>
        <p:spPr>
          <a:xfrm>
            <a:off x="4572000" y="1171600"/>
            <a:ext cx="4095299" cy="339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222300" y="455000"/>
            <a:ext cx="86994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Introduction to IPL</a:t>
            </a:r>
            <a:r>
              <a:rPr b="1" lang="en">
                <a:latin typeface="Times New Roman"/>
                <a:ea typeface="Times New Roman"/>
                <a:cs typeface="Times New Roman"/>
                <a:sym typeface="Times New Roman"/>
              </a:rPr>
              <a:t>: India's Premier T20 League</a:t>
            </a:r>
            <a:endParaRPr b="1">
              <a:latin typeface="Times New Roman"/>
              <a:ea typeface="Times New Roman"/>
              <a:cs typeface="Times New Roman"/>
              <a:sym typeface="Times New Roman"/>
            </a:endParaRPr>
          </a:p>
        </p:txBody>
      </p:sp>
      <p:sp>
        <p:nvSpPr>
          <p:cNvPr id="74" name="Google Shape;74;p15"/>
          <p:cNvSpPr txBox="1"/>
          <p:nvPr>
            <p:ph idx="1" type="body"/>
          </p:nvPr>
        </p:nvSpPr>
        <p:spPr>
          <a:xfrm>
            <a:off x="311700" y="1171600"/>
            <a:ext cx="4532700" cy="3397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400">
                <a:latin typeface="Times New Roman"/>
                <a:ea typeface="Times New Roman"/>
                <a:cs typeface="Times New Roman"/>
                <a:sym typeface="Times New Roman"/>
              </a:rPr>
              <a:t>Indian Premier League (IPL)</a:t>
            </a:r>
            <a:r>
              <a:rPr lang="en" sz="1400">
                <a:latin typeface="Times New Roman"/>
                <a:ea typeface="Times New Roman"/>
                <a:cs typeface="Times New Roman"/>
                <a:sym typeface="Times New Roman"/>
              </a:rPr>
              <a:t> is a professional Twenty20 cricket league in India, founded by the BCCI in 2008. It features franchise teams representing major cities, with players from across the globe. Known for its fast-paced format and high entertainment value, the IPL is one of the most-watched cricket leagues worldwide.</a:t>
            </a:r>
            <a:endParaRPr sz="1400">
              <a:latin typeface="Times New Roman"/>
              <a:ea typeface="Times New Roman"/>
              <a:cs typeface="Times New Roman"/>
              <a:sym typeface="Times New Roman"/>
            </a:endParaRPr>
          </a:p>
          <a:p>
            <a:pPr indent="0" lvl="0" marL="0" rtl="0" algn="l">
              <a:spcBef>
                <a:spcPts val="1200"/>
              </a:spcBef>
              <a:spcAft>
                <a:spcPts val="1200"/>
              </a:spcAft>
              <a:buNone/>
            </a:pPr>
            <a:r>
              <a:rPr lang="en" sz="1400">
                <a:latin typeface="Times New Roman"/>
                <a:ea typeface="Times New Roman"/>
                <a:cs typeface="Times New Roman"/>
                <a:sym typeface="Times New Roman"/>
              </a:rPr>
              <a:t>This analysis explores team and player performances across IPL seasons using SQL-driven insights. It highlights match-winning strategies, key performers, venue-based trends, and crucial game phases such as powerplay and death overs. The goal is to identify patterns that can help teams make smarter decisions in team selection, in-game tactics, and long-term strategy.</a:t>
            </a:r>
            <a:endParaRPr sz="1400">
              <a:latin typeface="Times New Roman"/>
              <a:ea typeface="Times New Roman"/>
              <a:cs typeface="Times New Roman"/>
              <a:sym typeface="Times New Roman"/>
            </a:endParaRPr>
          </a:p>
        </p:txBody>
      </p:sp>
      <p:pic>
        <p:nvPicPr>
          <p:cNvPr id="75" name="Google Shape;75;p15"/>
          <p:cNvPicPr preferRelativeResize="0"/>
          <p:nvPr/>
        </p:nvPicPr>
        <p:blipFill>
          <a:blip r:embed="rId3">
            <a:alphaModFix/>
          </a:blip>
          <a:stretch>
            <a:fillRect/>
          </a:stretch>
        </p:blipFill>
        <p:spPr>
          <a:xfrm>
            <a:off x="5502350" y="1171600"/>
            <a:ext cx="3329950" cy="3397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a:latin typeface="Times New Roman"/>
                <a:ea typeface="Times New Roman"/>
                <a:cs typeface="Times New Roman"/>
                <a:sym typeface="Times New Roman"/>
              </a:rPr>
              <a:t>Problem Statement</a:t>
            </a:r>
            <a:endParaRPr b="1">
              <a:latin typeface="Times New Roman"/>
              <a:ea typeface="Times New Roman"/>
              <a:cs typeface="Times New Roman"/>
              <a:sym typeface="Times New Roman"/>
            </a:endParaRPr>
          </a:p>
        </p:txBody>
      </p:sp>
      <p:sp>
        <p:nvSpPr>
          <p:cNvPr id="81" name="Google Shape;81;p16"/>
          <p:cNvSpPr txBox="1"/>
          <p:nvPr>
            <p:ph idx="1" type="body"/>
          </p:nvPr>
        </p:nvSpPr>
        <p:spPr>
          <a:xfrm>
            <a:off x="311700" y="1131725"/>
            <a:ext cx="40344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16191D"/>
                </a:solidFill>
                <a:latin typeface="Times New Roman"/>
                <a:ea typeface="Times New Roman"/>
                <a:cs typeface="Times New Roman"/>
                <a:sym typeface="Times New Roman"/>
              </a:rPr>
              <a:t>You are hired as a sports data analyst by RCB where the team is looking for top-performing and reliable players to win tournaments, considering both on-field performance and value for money in mega player auction of 2017. </a:t>
            </a:r>
            <a:endParaRPr sz="1400">
              <a:solidFill>
                <a:srgbClr val="16191D"/>
              </a:solidFill>
              <a:latin typeface="Times New Roman"/>
              <a:ea typeface="Times New Roman"/>
              <a:cs typeface="Times New Roman"/>
              <a:sym typeface="Times New Roman"/>
            </a:endParaRPr>
          </a:p>
          <a:p>
            <a:pPr indent="0" lvl="0" marL="0" rtl="0" algn="l">
              <a:spcBef>
                <a:spcPts val="1200"/>
              </a:spcBef>
              <a:spcAft>
                <a:spcPts val="1200"/>
              </a:spcAft>
              <a:buNone/>
            </a:pPr>
            <a:r>
              <a:rPr lang="en" sz="1400">
                <a:solidFill>
                  <a:srgbClr val="16191D"/>
                </a:solidFill>
                <a:latin typeface="Times New Roman"/>
                <a:ea typeface="Times New Roman"/>
                <a:cs typeface="Times New Roman"/>
                <a:sym typeface="Times New Roman"/>
              </a:rPr>
              <a:t>Your task is to come up with strategies/suggestions regarding selecting the best-performing players and optimizing player auction investments.</a:t>
            </a:r>
            <a:endParaRPr sz="1400">
              <a:latin typeface="Times New Roman"/>
              <a:ea typeface="Times New Roman"/>
              <a:cs typeface="Times New Roman"/>
              <a:sym typeface="Times New Roman"/>
            </a:endParaRPr>
          </a:p>
        </p:txBody>
      </p:sp>
      <p:pic>
        <p:nvPicPr>
          <p:cNvPr id="82" name="Google Shape;82;p16"/>
          <p:cNvPicPr preferRelativeResize="0"/>
          <p:nvPr/>
        </p:nvPicPr>
        <p:blipFill>
          <a:blip r:embed="rId3">
            <a:alphaModFix/>
          </a:blip>
          <a:stretch>
            <a:fillRect/>
          </a:stretch>
        </p:blipFill>
        <p:spPr>
          <a:xfrm>
            <a:off x="4498500" y="1210625"/>
            <a:ext cx="4493100" cy="2995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latin typeface="Times New Roman"/>
                <a:ea typeface="Times New Roman"/>
                <a:cs typeface="Times New Roman"/>
                <a:sym typeface="Times New Roman"/>
              </a:rPr>
              <a:t>Database schema</a:t>
            </a:r>
            <a:endParaRPr b="1">
              <a:latin typeface="Times New Roman"/>
              <a:ea typeface="Times New Roman"/>
              <a:cs typeface="Times New Roman"/>
              <a:sym typeface="Times New Roman"/>
            </a:endParaRPr>
          </a:p>
          <a:p>
            <a:pPr indent="0" lvl="0" marL="0" rtl="0" algn="l">
              <a:spcBef>
                <a:spcPts val="0"/>
              </a:spcBef>
              <a:spcAft>
                <a:spcPts val="0"/>
              </a:spcAft>
              <a:buNone/>
            </a:pPr>
            <a:r>
              <a:t/>
            </a:r>
            <a:endParaRPr b="1">
              <a:latin typeface="Times New Roman"/>
              <a:ea typeface="Times New Roman"/>
              <a:cs typeface="Times New Roman"/>
              <a:sym typeface="Times New Roman"/>
            </a:endParaRPr>
          </a:p>
        </p:txBody>
      </p:sp>
      <p:pic>
        <p:nvPicPr>
          <p:cNvPr id="88" name="Google Shape;88;p17"/>
          <p:cNvPicPr preferRelativeResize="0"/>
          <p:nvPr/>
        </p:nvPicPr>
        <p:blipFill>
          <a:blip r:embed="rId3">
            <a:alphaModFix/>
          </a:blip>
          <a:stretch>
            <a:fillRect/>
          </a:stretch>
        </p:blipFill>
        <p:spPr>
          <a:xfrm>
            <a:off x="1044150" y="1283300"/>
            <a:ext cx="7055700" cy="32110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a:latin typeface="Times New Roman"/>
                <a:ea typeface="Times New Roman"/>
                <a:cs typeface="Times New Roman"/>
                <a:sym typeface="Times New Roman"/>
              </a:rPr>
              <a:t>Data Description</a:t>
            </a:r>
            <a:endParaRPr b="1">
              <a:latin typeface="Times New Roman"/>
              <a:ea typeface="Times New Roman"/>
              <a:cs typeface="Times New Roman"/>
              <a:sym typeface="Times New Roman"/>
            </a:endParaRPr>
          </a:p>
        </p:txBody>
      </p:sp>
      <p:sp>
        <p:nvSpPr>
          <p:cNvPr id="94" name="Google Shape;94;p1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lang="en" sz="1400">
                <a:latin typeface="Times New Roman"/>
                <a:ea typeface="Times New Roman"/>
                <a:cs typeface="Times New Roman"/>
                <a:sym typeface="Times New Roman"/>
              </a:rPr>
              <a:t>The analysis is based on a rich and comprehensive IPL database consisting of </a:t>
            </a:r>
            <a:r>
              <a:rPr b="1" lang="en" sz="1400">
                <a:latin typeface="Times New Roman"/>
                <a:ea typeface="Times New Roman"/>
                <a:cs typeface="Times New Roman"/>
                <a:sym typeface="Times New Roman"/>
              </a:rPr>
              <a:t>20+ interlinked tables</a:t>
            </a:r>
            <a:r>
              <a:rPr lang="en" sz="1400">
                <a:latin typeface="Times New Roman"/>
                <a:ea typeface="Times New Roman"/>
                <a:cs typeface="Times New Roman"/>
                <a:sym typeface="Times New Roman"/>
              </a:rPr>
              <a:t> covering various aspects of the league:</a:t>
            </a:r>
            <a:endParaRPr sz="1400">
              <a:latin typeface="Times New Roman"/>
              <a:ea typeface="Times New Roman"/>
              <a:cs typeface="Times New Roman"/>
              <a:sym typeface="Times New Roman"/>
            </a:endParaRPr>
          </a:p>
          <a:p>
            <a:pPr indent="-317500" lvl="0" marL="457200" rtl="0" algn="l">
              <a:lnSpc>
                <a:spcPct val="100000"/>
              </a:lnSpc>
              <a:spcBef>
                <a:spcPts val="1200"/>
              </a:spcBef>
              <a:spcAft>
                <a:spcPts val="0"/>
              </a:spcAft>
              <a:buSzPts val="1400"/>
              <a:buFont typeface="Arial"/>
              <a:buChar char="●"/>
            </a:pPr>
            <a:r>
              <a:rPr b="1" lang="en" sz="1400">
                <a:latin typeface="Times New Roman"/>
                <a:ea typeface="Times New Roman"/>
                <a:cs typeface="Times New Roman"/>
                <a:sym typeface="Times New Roman"/>
              </a:rPr>
              <a:t>Match Data</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matches</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season</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venue</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outcome</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win_by</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toss_decision</a:t>
            </a:r>
            <a:endParaRPr sz="1400">
              <a:solidFill>
                <a:srgbClr val="188038"/>
              </a:solidFill>
              <a:latin typeface="Times New Roman"/>
              <a:ea typeface="Times New Roman"/>
              <a:cs typeface="Times New Roman"/>
              <a:sym typeface="Times New Roman"/>
            </a:endParaRPr>
          </a:p>
          <a:p>
            <a:pPr indent="-317500" lvl="0" marL="457200" rtl="0" algn="l">
              <a:lnSpc>
                <a:spcPct val="100000"/>
              </a:lnSpc>
              <a:spcBef>
                <a:spcPts val="1200"/>
              </a:spcBef>
              <a:spcAft>
                <a:spcPts val="0"/>
              </a:spcAft>
              <a:buSzPts val="1400"/>
              <a:buFont typeface="Arial"/>
              <a:buChar char="●"/>
            </a:pPr>
            <a:r>
              <a:rPr b="1" lang="en" sz="1400">
                <a:latin typeface="Times New Roman"/>
                <a:ea typeface="Times New Roman"/>
                <a:cs typeface="Times New Roman"/>
                <a:sym typeface="Times New Roman"/>
              </a:rPr>
              <a:t>Ball-Level Data</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ball_by_ball</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extra_runs</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wicket_taken</a:t>
            </a:r>
            <a:endParaRPr sz="1400">
              <a:solidFill>
                <a:srgbClr val="188038"/>
              </a:solidFill>
              <a:latin typeface="Times New Roman"/>
              <a:ea typeface="Times New Roman"/>
              <a:cs typeface="Times New Roman"/>
              <a:sym typeface="Times New Roman"/>
            </a:endParaRPr>
          </a:p>
          <a:p>
            <a:pPr indent="-317500" lvl="0" marL="457200" rtl="0" algn="l">
              <a:lnSpc>
                <a:spcPct val="100000"/>
              </a:lnSpc>
              <a:spcBef>
                <a:spcPts val="1200"/>
              </a:spcBef>
              <a:spcAft>
                <a:spcPts val="0"/>
              </a:spcAft>
              <a:buSzPts val="1400"/>
              <a:buFont typeface="Arial"/>
              <a:buChar char="●"/>
            </a:pPr>
            <a:r>
              <a:rPr b="1" lang="en" sz="1400">
                <a:latin typeface="Times New Roman"/>
                <a:ea typeface="Times New Roman"/>
                <a:cs typeface="Times New Roman"/>
                <a:sym typeface="Times New Roman"/>
              </a:rPr>
              <a:t>Player &amp; Team Info</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player</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team</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player_match</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rolee</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batting_style</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bowling_styl</a:t>
            </a:r>
            <a:r>
              <a:rPr lang="en" sz="1400">
                <a:solidFill>
                  <a:srgbClr val="188038"/>
                </a:solidFill>
                <a:latin typeface="Times New Roman"/>
                <a:ea typeface="Times New Roman"/>
                <a:cs typeface="Times New Roman"/>
                <a:sym typeface="Times New Roman"/>
              </a:rPr>
              <a:t>e</a:t>
            </a:r>
            <a:endParaRPr sz="1400">
              <a:solidFill>
                <a:srgbClr val="188038"/>
              </a:solidFill>
              <a:latin typeface="Times New Roman"/>
              <a:ea typeface="Times New Roman"/>
              <a:cs typeface="Times New Roman"/>
              <a:sym typeface="Times New Roman"/>
            </a:endParaRPr>
          </a:p>
          <a:p>
            <a:pPr indent="-317500" lvl="0" marL="457200" rtl="0" algn="l">
              <a:lnSpc>
                <a:spcPct val="100000"/>
              </a:lnSpc>
              <a:spcBef>
                <a:spcPts val="1200"/>
              </a:spcBef>
              <a:spcAft>
                <a:spcPts val="0"/>
              </a:spcAft>
              <a:buSzPts val="1400"/>
              <a:buFont typeface="Arial"/>
              <a:buChar char="●"/>
            </a:pPr>
            <a:r>
              <a:rPr b="1" lang="en" sz="1400">
                <a:latin typeface="Times New Roman"/>
                <a:ea typeface="Times New Roman"/>
                <a:cs typeface="Times New Roman"/>
                <a:sym typeface="Times New Roman"/>
              </a:rPr>
              <a:t>Location Data</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city</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country</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umpire</a:t>
            </a:r>
            <a:endParaRPr sz="1400">
              <a:solidFill>
                <a:srgbClr val="188038"/>
              </a:solidFill>
              <a:latin typeface="Times New Roman"/>
              <a:ea typeface="Times New Roman"/>
              <a:cs typeface="Times New Roman"/>
              <a:sym typeface="Times New Roman"/>
            </a:endParaRPr>
          </a:p>
          <a:p>
            <a:pPr indent="-317500" lvl="0" marL="457200" rtl="0" algn="l">
              <a:lnSpc>
                <a:spcPct val="100000"/>
              </a:lnSpc>
              <a:spcBef>
                <a:spcPts val="1200"/>
              </a:spcBef>
              <a:spcAft>
                <a:spcPts val="0"/>
              </a:spcAft>
              <a:buSzPts val="1400"/>
              <a:buFont typeface="Arial"/>
              <a:buChar char="●"/>
            </a:pPr>
            <a:r>
              <a:rPr b="1" lang="en" sz="1400">
                <a:latin typeface="Times New Roman"/>
                <a:ea typeface="Times New Roman"/>
                <a:cs typeface="Times New Roman"/>
                <a:sym typeface="Times New Roman"/>
              </a:rPr>
              <a:t>Extras and Dismissals</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extra_type</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out_type</a:t>
            </a:r>
            <a:br>
              <a:rPr lang="en" sz="1400">
                <a:solidFill>
                  <a:srgbClr val="188038"/>
                </a:solidFill>
                <a:latin typeface="Times New Roman"/>
                <a:ea typeface="Times New Roman"/>
                <a:cs typeface="Times New Roman"/>
                <a:sym typeface="Times New Roman"/>
              </a:rPr>
            </a:br>
            <a:endParaRPr sz="1400">
              <a:solidFill>
                <a:srgbClr val="188038"/>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 sz="1400">
                <a:latin typeface="Times New Roman"/>
                <a:ea typeface="Times New Roman"/>
                <a:cs typeface="Times New Roman"/>
                <a:sym typeface="Times New Roman"/>
              </a:rPr>
              <a:t>This detailed schema allows for deep insights into </a:t>
            </a:r>
            <a:r>
              <a:rPr b="1" lang="en" sz="1400">
                <a:latin typeface="Times New Roman"/>
                <a:ea typeface="Times New Roman"/>
                <a:cs typeface="Times New Roman"/>
                <a:sym typeface="Times New Roman"/>
              </a:rPr>
              <a:t>player performances</a:t>
            </a:r>
            <a:r>
              <a:rPr lang="en" sz="1400">
                <a:latin typeface="Times New Roman"/>
                <a:ea typeface="Times New Roman"/>
                <a:cs typeface="Times New Roman"/>
                <a:sym typeface="Times New Roman"/>
              </a:rPr>
              <a:t>, </a:t>
            </a:r>
            <a:r>
              <a:rPr b="1" lang="en" sz="1400">
                <a:latin typeface="Times New Roman"/>
                <a:ea typeface="Times New Roman"/>
                <a:cs typeface="Times New Roman"/>
                <a:sym typeface="Times New Roman"/>
              </a:rPr>
              <a:t>team strategies</a:t>
            </a:r>
            <a:r>
              <a:rPr lang="en" sz="1400">
                <a:latin typeface="Times New Roman"/>
                <a:ea typeface="Times New Roman"/>
                <a:cs typeface="Times New Roman"/>
                <a:sym typeface="Times New Roman"/>
              </a:rPr>
              <a:t>, </a:t>
            </a:r>
            <a:r>
              <a:rPr b="1" lang="en" sz="1400">
                <a:latin typeface="Times New Roman"/>
                <a:ea typeface="Times New Roman"/>
                <a:cs typeface="Times New Roman"/>
                <a:sym typeface="Times New Roman"/>
              </a:rPr>
              <a:t>venue patterns</a:t>
            </a:r>
            <a:r>
              <a:rPr lang="en" sz="1400">
                <a:latin typeface="Times New Roman"/>
                <a:ea typeface="Times New Roman"/>
                <a:cs typeface="Times New Roman"/>
                <a:sym typeface="Times New Roman"/>
              </a:rPr>
              <a:t>, and </a:t>
            </a:r>
            <a:r>
              <a:rPr b="1" lang="en" sz="1400">
                <a:latin typeface="Times New Roman"/>
                <a:ea typeface="Times New Roman"/>
                <a:cs typeface="Times New Roman"/>
                <a:sym typeface="Times New Roman"/>
              </a:rPr>
              <a:t>seasonal trends</a:t>
            </a:r>
            <a:r>
              <a:rPr lang="en"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Methodology</a:t>
            </a:r>
            <a:endParaRPr b="1">
              <a:latin typeface="Times New Roman"/>
              <a:ea typeface="Times New Roman"/>
              <a:cs typeface="Times New Roman"/>
              <a:sym typeface="Times New Roman"/>
            </a:endParaRPr>
          </a:p>
        </p:txBody>
      </p:sp>
      <p:sp>
        <p:nvSpPr>
          <p:cNvPr id="100" name="Google Shape;100;p1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latin typeface="Times New Roman"/>
                <a:ea typeface="Times New Roman"/>
                <a:cs typeface="Times New Roman"/>
                <a:sym typeface="Times New Roman"/>
              </a:rPr>
              <a:t>While exploring the dataset, I began by analyzing the structure, checking for any duplicates or null values. I then examined the tables and their interrelationships to understand how they were connected. To answer the various queries, I made extensive use of SQL statements such as </a:t>
            </a:r>
            <a:r>
              <a:rPr lang="en" sz="1400">
                <a:solidFill>
                  <a:srgbClr val="188038"/>
                </a:solidFill>
                <a:latin typeface="Times New Roman"/>
                <a:ea typeface="Times New Roman"/>
                <a:cs typeface="Times New Roman"/>
                <a:sym typeface="Times New Roman"/>
              </a:rPr>
              <a:t>SELECT</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GROUP BY</a:t>
            </a:r>
            <a:r>
              <a:rPr lang="en" sz="1400">
                <a:latin typeface="Times New Roman"/>
                <a:ea typeface="Times New Roman"/>
                <a:cs typeface="Times New Roman"/>
                <a:sym typeface="Times New Roman"/>
              </a:rPr>
              <a:t>, and </a:t>
            </a:r>
            <a:r>
              <a:rPr lang="en" sz="1400">
                <a:solidFill>
                  <a:srgbClr val="188038"/>
                </a:solidFill>
                <a:latin typeface="Times New Roman"/>
                <a:ea typeface="Times New Roman"/>
                <a:cs typeface="Times New Roman"/>
                <a:sym typeface="Times New Roman"/>
              </a:rPr>
              <a:t>ORDER BY</a:t>
            </a:r>
            <a:r>
              <a:rPr lang="en"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400">
                <a:latin typeface="Times New Roman"/>
                <a:ea typeface="Times New Roman"/>
                <a:cs typeface="Times New Roman"/>
                <a:sym typeface="Times New Roman"/>
              </a:rPr>
              <a:t>When data from multiple tables was required, I applied </a:t>
            </a:r>
            <a:r>
              <a:rPr b="1" lang="en" sz="1400">
                <a:latin typeface="Times New Roman"/>
                <a:ea typeface="Times New Roman"/>
                <a:cs typeface="Times New Roman"/>
                <a:sym typeface="Times New Roman"/>
              </a:rPr>
              <a:t>JOIN operations</a:t>
            </a:r>
            <a:r>
              <a:rPr lang="en" sz="1400">
                <a:latin typeface="Times New Roman"/>
                <a:ea typeface="Times New Roman"/>
                <a:cs typeface="Times New Roman"/>
                <a:sym typeface="Times New Roman"/>
              </a:rPr>
              <a:t> to combine relevant information effectively. I also used </a:t>
            </a:r>
            <a:r>
              <a:rPr b="1" lang="en" sz="1400">
                <a:latin typeface="Times New Roman"/>
                <a:ea typeface="Times New Roman"/>
                <a:cs typeface="Times New Roman"/>
                <a:sym typeface="Times New Roman"/>
              </a:rPr>
              <a:t>aggregate functions</a:t>
            </a:r>
            <a:r>
              <a:rPr lang="en" sz="1400">
                <a:latin typeface="Times New Roman"/>
                <a:ea typeface="Times New Roman"/>
                <a:cs typeface="Times New Roman"/>
                <a:sym typeface="Times New Roman"/>
              </a:rPr>
              <a:t> like </a:t>
            </a:r>
            <a:r>
              <a:rPr lang="en" sz="1400">
                <a:solidFill>
                  <a:srgbClr val="188038"/>
                </a:solidFill>
                <a:latin typeface="Times New Roman"/>
                <a:ea typeface="Times New Roman"/>
                <a:cs typeface="Times New Roman"/>
                <a:sym typeface="Times New Roman"/>
              </a:rPr>
              <a:t>SUM</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AVG</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COUNT(DISTINCT)</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MAX</a:t>
            </a:r>
            <a:r>
              <a:rPr lang="en" sz="1400">
                <a:latin typeface="Times New Roman"/>
                <a:ea typeface="Times New Roman"/>
                <a:cs typeface="Times New Roman"/>
                <a:sym typeface="Times New Roman"/>
              </a:rPr>
              <a:t>, and </a:t>
            </a:r>
            <a:r>
              <a:rPr lang="en" sz="1400">
                <a:solidFill>
                  <a:srgbClr val="188038"/>
                </a:solidFill>
                <a:latin typeface="Times New Roman"/>
                <a:ea typeface="Times New Roman"/>
                <a:cs typeface="Times New Roman"/>
                <a:sym typeface="Times New Roman"/>
              </a:rPr>
              <a:t>MIN</a:t>
            </a:r>
            <a:r>
              <a:rPr lang="en" sz="1400">
                <a:latin typeface="Times New Roman"/>
                <a:ea typeface="Times New Roman"/>
                <a:cs typeface="Times New Roman"/>
                <a:sym typeface="Times New Roman"/>
              </a:rPr>
              <a:t> to derive meaningful metrics.</a:t>
            </a:r>
            <a:endParaRPr sz="14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400">
                <a:latin typeface="Times New Roman"/>
                <a:ea typeface="Times New Roman"/>
                <a:cs typeface="Times New Roman"/>
                <a:sym typeface="Times New Roman"/>
              </a:rPr>
              <a:t>Additionally, </a:t>
            </a:r>
            <a:r>
              <a:rPr b="1" lang="en" sz="1400">
                <a:latin typeface="Times New Roman"/>
                <a:ea typeface="Times New Roman"/>
                <a:cs typeface="Times New Roman"/>
                <a:sym typeface="Times New Roman"/>
              </a:rPr>
              <a:t>ranking functions</a:t>
            </a:r>
            <a:r>
              <a:rPr lang="en" sz="1400">
                <a:latin typeface="Times New Roman"/>
                <a:ea typeface="Times New Roman"/>
                <a:cs typeface="Times New Roman"/>
                <a:sym typeface="Times New Roman"/>
              </a:rPr>
              <a:t> were used to rank players based on parameters such as batting average and strike rate. On the structural side, I used </a:t>
            </a:r>
            <a:r>
              <a:rPr b="1" lang="en" sz="1400">
                <a:latin typeface="Times New Roman"/>
                <a:ea typeface="Times New Roman"/>
                <a:cs typeface="Times New Roman"/>
                <a:sym typeface="Times New Roman"/>
              </a:rPr>
              <a:t>DDL commands</a:t>
            </a:r>
            <a:r>
              <a:rPr lang="en" sz="1400">
                <a:latin typeface="Times New Roman"/>
                <a:ea typeface="Times New Roman"/>
                <a:cs typeface="Times New Roman"/>
                <a:sym typeface="Times New Roman"/>
              </a:rPr>
              <a:t> like </a:t>
            </a:r>
            <a:r>
              <a:rPr lang="en" sz="1400">
                <a:solidFill>
                  <a:srgbClr val="188038"/>
                </a:solidFill>
                <a:latin typeface="Times New Roman"/>
                <a:ea typeface="Times New Roman"/>
                <a:cs typeface="Times New Roman"/>
                <a:sym typeface="Times New Roman"/>
              </a:rPr>
              <a:t>CREATE</a:t>
            </a:r>
            <a:r>
              <a:rPr lang="en" sz="1400">
                <a:latin typeface="Times New Roman"/>
                <a:ea typeface="Times New Roman"/>
                <a:cs typeface="Times New Roman"/>
                <a:sym typeface="Times New Roman"/>
              </a:rPr>
              <a:t> to define tables, and </a:t>
            </a:r>
            <a:r>
              <a:rPr b="1" lang="en" sz="1400">
                <a:latin typeface="Times New Roman"/>
                <a:ea typeface="Times New Roman"/>
                <a:cs typeface="Times New Roman"/>
                <a:sym typeface="Times New Roman"/>
              </a:rPr>
              <a:t>DML commands</a:t>
            </a:r>
            <a:r>
              <a:rPr lang="en" sz="1400">
                <a:latin typeface="Times New Roman"/>
                <a:ea typeface="Times New Roman"/>
                <a:cs typeface="Times New Roman"/>
                <a:sym typeface="Times New Roman"/>
              </a:rPr>
              <a:t> like </a:t>
            </a:r>
            <a:r>
              <a:rPr lang="en" sz="1400">
                <a:solidFill>
                  <a:srgbClr val="188038"/>
                </a:solidFill>
                <a:latin typeface="Times New Roman"/>
                <a:ea typeface="Times New Roman"/>
                <a:cs typeface="Times New Roman"/>
                <a:sym typeface="Times New Roman"/>
              </a:rPr>
              <a:t>INSERT</a:t>
            </a:r>
            <a:r>
              <a:rPr lang="en" sz="1400">
                <a:latin typeface="Times New Roman"/>
                <a:ea typeface="Times New Roman"/>
                <a:cs typeface="Times New Roman"/>
                <a:sym typeface="Times New Roman"/>
              </a:rPr>
              <a:t> and </a:t>
            </a:r>
            <a:r>
              <a:rPr lang="en" sz="1400">
                <a:solidFill>
                  <a:srgbClr val="188038"/>
                </a:solidFill>
                <a:latin typeface="Times New Roman"/>
                <a:ea typeface="Times New Roman"/>
                <a:cs typeface="Times New Roman"/>
                <a:sym typeface="Times New Roman"/>
              </a:rPr>
              <a:t>UPDATE</a:t>
            </a:r>
            <a:r>
              <a:rPr lang="en" sz="1400">
                <a:latin typeface="Times New Roman"/>
                <a:ea typeface="Times New Roman"/>
                <a:cs typeface="Times New Roman"/>
                <a:sym typeface="Times New Roman"/>
              </a:rPr>
              <a:t> to manipulate data.</a:t>
            </a:r>
            <a:endParaRPr sz="14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400">
                <a:latin typeface="Times New Roman"/>
                <a:ea typeface="Times New Roman"/>
                <a:cs typeface="Times New Roman"/>
                <a:sym typeface="Times New Roman"/>
              </a:rPr>
              <a:t>Overall, this project involved a wide range of SQL functionalities that helped transform raw data into actionable insights for cricket performance analysis.</a:t>
            </a:r>
            <a:endParaRPr sz="1400">
              <a:latin typeface="Times New Roman"/>
              <a:ea typeface="Times New Roman"/>
              <a:cs typeface="Times New Roman"/>
              <a:sym typeface="Times New Roman"/>
            </a:endParaRPr>
          </a:p>
          <a:p>
            <a:pPr indent="0" lvl="0" marL="0" rtl="0" algn="l">
              <a:spcBef>
                <a:spcPts val="1200"/>
              </a:spcBef>
              <a:spcAft>
                <a:spcPts val="120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a:latin typeface="Times New Roman"/>
                <a:ea typeface="Times New Roman"/>
                <a:cs typeface="Times New Roman"/>
                <a:sym typeface="Times New Roman"/>
              </a:rPr>
              <a:t>Player Performance Analysis</a:t>
            </a:r>
            <a:endParaRPr b="1"/>
          </a:p>
        </p:txBody>
      </p:sp>
      <p:sp>
        <p:nvSpPr>
          <p:cNvPr id="106" name="Google Shape;106;p20"/>
          <p:cNvSpPr txBox="1"/>
          <p:nvPr>
            <p:ph idx="1" type="body"/>
          </p:nvPr>
        </p:nvSpPr>
        <p:spPr>
          <a:xfrm>
            <a:off x="311700" y="1176225"/>
            <a:ext cx="4363200" cy="3628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400">
                <a:latin typeface="Times New Roman"/>
                <a:ea typeface="Times New Roman"/>
                <a:cs typeface="Times New Roman"/>
                <a:sym typeface="Times New Roman"/>
              </a:rPr>
              <a:t>This chart showcases the </a:t>
            </a:r>
            <a:r>
              <a:rPr b="1" lang="en" sz="1400">
                <a:latin typeface="Times New Roman"/>
                <a:ea typeface="Times New Roman"/>
                <a:cs typeface="Times New Roman"/>
                <a:sym typeface="Times New Roman"/>
              </a:rPr>
              <a:t>top 10 players with the highest strike rates</a:t>
            </a:r>
            <a:r>
              <a:rPr lang="en" sz="1400">
                <a:latin typeface="Times New Roman"/>
                <a:ea typeface="Times New Roman"/>
                <a:cs typeface="Times New Roman"/>
                <a:sym typeface="Times New Roman"/>
              </a:rPr>
              <a:t> over the last four IPL seasons. Strike rate is a crucial performance metric in T20 cricket, reflecting a player's ability to score runs quickly. The featured players have demonstrated exceptional consistency in accelerating their team’s innings. </a:t>
            </a:r>
            <a:endParaRPr sz="1400">
              <a:latin typeface="Times New Roman"/>
              <a:ea typeface="Times New Roman"/>
              <a:cs typeface="Times New Roman"/>
              <a:sym typeface="Times New Roman"/>
            </a:endParaRPr>
          </a:p>
          <a:p>
            <a:pPr indent="0" lvl="0" marL="0" rtl="0" algn="l">
              <a:spcBef>
                <a:spcPts val="1200"/>
              </a:spcBef>
              <a:spcAft>
                <a:spcPts val="1200"/>
              </a:spcAft>
              <a:buNone/>
            </a:pPr>
            <a:r>
              <a:rPr lang="en" sz="1400">
                <a:latin typeface="Times New Roman"/>
                <a:ea typeface="Times New Roman"/>
                <a:cs typeface="Times New Roman"/>
                <a:sym typeface="Times New Roman"/>
              </a:rPr>
              <a:t>These high strike rates often influence match outcomes, especially during powerplay and death overs. This analysis helps identify key finishers and aggressive top-order batters. It also offers insights into batting strategies adopted by different teams.</a:t>
            </a:r>
            <a:endParaRPr sz="1400"/>
          </a:p>
        </p:txBody>
      </p:sp>
      <p:pic>
        <p:nvPicPr>
          <p:cNvPr id="107" name="Google Shape;107;p20"/>
          <p:cNvPicPr preferRelativeResize="0"/>
          <p:nvPr/>
        </p:nvPicPr>
        <p:blipFill>
          <a:blip r:embed="rId3">
            <a:alphaModFix/>
          </a:blip>
          <a:stretch>
            <a:fillRect/>
          </a:stretch>
        </p:blipFill>
        <p:spPr>
          <a:xfrm>
            <a:off x="5285825" y="1120925"/>
            <a:ext cx="3419475" cy="3562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Top 20 Batsmen by Average Runs (All Seasons)</a:t>
            </a:r>
            <a:endParaRPr b="1">
              <a:latin typeface="Times New Roman"/>
              <a:ea typeface="Times New Roman"/>
              <a:cs typeface="Times New Roman"/>
              <a:sym typeface="Times New Roman"/>
            </a:endParaRPr>
          </a:p>
        </p:txBody>
      </p:sp>
      <p:sp>
        <p:nvSpPr>
          <p:cNvPr id="113" name="Google Shape;113;p21"/>
          <p:cNvSpPr txBox="1"/>
          <p:nvPr>
            <p:ph idx="1" type="body"/>
          </p:nvPr>
        </p:nvSpPr>
        <p:spPr>
          <a:xfrm>
            <a:off x="311700" y="3414225"/>
            <a:ext cx="8520600" cy="1340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latin typeface="Times New Roman"/>
                <a:ea typeface="Times New Roman"/>
                <a:cs typeface="Times New Roman"/>
                <a:sym typeface="Times New Roman"/>
              </a:rPr>
              <a:t>This slide highlights the top 20 batsmen based on their batting averages across all IPL seasons. The batting average is computed as total runs scored divided by the number of times the player has been dismissed, reflecting both performance and consistency. Featuring only players with a minimum number of matches or balls faced ensures statistical relevance. These top performers have demonstrated sustained excellence, contributing significantly to their teams' batting strength over the years</a:t>
            </a:r>
            <a:endParaRPr sz="1400">
              <a:latin typeface="Times New Roman"/>
              <a:ea typeface="Times New Roman"/>
              <a:cs typeface="Times New Roman"/>
              <a:sym typeface="Times New Roman"/>
            </a:endParaRPr>
          </a:p>
        </p:txBody>
      </p:sp>
      <p:pic>
        <p:nvPicPr>
          <p:cNvPr id="114" name="Google Shape;114;p21"/>
          <p:cNvPicPr preferRelativeResize="0"/>
          <p:nvPr/>
        </p:nvPicPr>
        <p:blipFill>
          <a:blip r:embed="rId3">
            <a:alphaModFix/>
          </a:blip>
          <a:stretch>
            <a:fillRect/>
          </a:stretch>
        </p:blipFill>
        <p:spPr>
          <a:xfrm>
            <a:off x="830225" y="1210625"/>
            <a:ext cx="7111428" cy="1961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Top 20 Bowlers by Average Wickets (All Seasons)</a:t>
            </a:r>
            <a:endParaRPr b="1">
              <a:latin typeface="Times New Roman"/>
              <a:ea typeface="Times New Roman"/>
              <a:cs typeface="Times New Roman"/>
              <a:sym typeface="Times New Roman"/>
            </a:endParaRPr>
          </a:p>
        </p:txBody>
      </p:sp>
      <p:sp>
        <p:nvSpPr>
          <p:cNvPr id="120" name="Google Shape;120;p22"/>
          <p:cNvSpPr txBox="1"/>
          <p:nvPr>
            <p:ph idx="1" type="body"/>
          </p:nvPr>
        </p:nvSpPr>
        <p:spPr>
          <a:xfrm>
            <a:off x="311700" y="3299475"/>
            <a:ext cx="8520600" cy="142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latin typeface="Times New Roman"/>
                <a:ea typeface="Times New Roman"/>
                <a:cs typeface="Times New Roman"/>
                <a:sym typeface="Times New Roman"/>
              </a:rPr>
              <a:t>This slide presents the top 20 bowlers ranked by their average number of wickets taken per match throughout all IPL seasons. The average is calculated by dividing the total wickets taken by the number of matches played, giving insight into each bowler’s impact and consistency. Only bowlers meeting a minimum threshold of matches are considered to ensure reliability. These players have been pivotal in restricting opponents and turning games with their bowling performances.</a:t>
            </a:r>
            <a:endParaRPr sz="1400">
              <a:latin typeface="Times New Roman"/>
              <a:ea typeface="Times New Roman"/>
              <a:cs typeface="Times New Roman"/>
              <a:sym typeface="Times New Roman"/>
            </a:endParaRPr>
          </a:p>
        </p:txBody>
      </p:sp>
      <p:pic>
        <p:nvPicPr>
          <p:cNvPr id="121" name="Google Shape;121;p22"/>
          <p:cNvPicPr preferRelativeResize="0"/>
          <p:nvPr/>
        </p:nvPicPr>
        <p:blipFill>
          <a:blip r:embed="rId3">
            <a:alphaModFix/>
          </a:blip>
          <a:stretch>
            <a:fillRect/>
          </a:stretch>
        </p:blipFill>
        <p:spPr>
          <a:xfrm>
            <a:off x="895150" y="1320300"/>
            <a:ext cx="7353700" cy="1647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Identifying Venue-Specific Player Strengths</a:t>
            </a:r>
            <a:endParaRPr b="1">
              <a:latin typeface="Times New Roman"/>
              <a:ea typeface="Times New Roman"/>
              <a:cs typeface="Times New Roman"/>
              <a:sym typeface="Times New Roman"/>
            </a:endParaRPr>
          </a:p>
        </p:txBody>
      </p:sp>
      <p:sp>
        <p:nvSpPr>
          <p:cNvPr id="127" name="Google Shape;127;p23"/>
          <p:cNvSpPr txBox="1"/>
          <p:nvPr>
            <p:ph idx="1" type="body"/>
          </p:nvPr>
        </p:nvSpPr>
        <p:spPr>
          <a:xfrm>
            <a:off x="311700" y="3264875"/>
            <a:ext cx="8609700" cy="1569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400">
                <a:latin typeface="Times New Roman"/>
                <a:ea typeface="Times New Roman"/>
                <a:cs typeface="Times New Roman"/>
                <a:sym typeface="Times New Roman"/>
              </a:rPr>
              <a:t>The </a:t>
            </a:r>
            <a:r>
              <a:rPr b="1" lang="en" sz="1400">
                <a:latin typeface="Times New Roman"/>
                <a:ea typeface="Times New Roman"/>
                <a:cs typeface="Times New Roman"/>
                <a:sym typeface="Times New Roman"/>
              </a:rPr>
              <a:t>first chart</a:t>
            </a:r>
            <a:r>
              <a:rPr lang="en" sz="1400">
                <a:latin typeface="Times New Roman"/>
                <a:ea typeface="Times New Roman"/>
                <a:cs typeface="Times New Roman"/>
                <a:sym typeface="Times New Roman"/>
              </a:rPr>
              <a:t> shows </a:t>
            </a:r>
            <a:r>
              <a:rPr b="1" lang="en" sz="1400">
                <a:latin typeface="Times New Roman"/>
                <a:ea typeface="Times New Roman"/>
                <a:cs typeface="Times New Roman"/>
                <a:sym typeface="Times New Roman"/>
              </a:rPr>
              <a:t>average wickets taken</a:t>
            </a:r>
            <a:r>
              <a:rPr lang="en" sz="1400">
                <a:latin typeface="Times New Roman"/>
                <a:ea typeface="Times New Roman"/>
                <a:cs typeface="Times New Roman"/>
                <a:sym typeface="Times New Roman"/>
              </a:rPr>
              <a:t> alongside the </a:t>
            </a:r>
            <a:r>
              <a:rPr b="1" lang="en" sz="1400">
                <a:latin typeface="Times New Roman"/>
                <a:ea typeface="Times New Roman"/>
                <a:cs typeface="Times New Roman"/>
                <a:sym typeface="Times New Roman"/>
              </a:rPr>
              <a:t>number of matches played</a:t>
            </a:r>
            <a:r>
              <a:rPr lang="en" sz="1400">
                <a:latin typeface="Times New Roman"/>
                <a:ea typeface="Times New Roman"/>
                <a:cs typeface="Times New Roman"/>
                <a:sym typeface="Times New Roman"/>
              </a:rPr>
              <a:t> by each bowler, helping us identify bowlers who consistently perform well in certain conditions.</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n" sz="1400">
                <a:latin typeface="Times New Roman"/>
                <a:ea typeface="Times New Roman"/>
                <a:cs typeface="Times New Roman"/>
                <a:sym typeface="Times New Roman"/>
              </a:rPr>
              <a:t>The </a:t>
            </a:r>
            <a:r>
              <a:rPr b="1" lang="en" sz="1400">
                <a:latin typeface="Times New Roman"/>
                <a:ea typeface="Times New Roman"/>
                <a:cs typeface="Times New Roman"/>
                <a:sym typeface="Times New Roman"/>
              </a:rPr>
              <a:t>second chart</a:t>
            </a:r>
            <a:r>
              <a:rPr lang="en" sz="1400">
                <a:latin typeface="Times New Roman"/>
                <a:ea typeface="Times New Roman"/>
                <a:cs typeface="Times New Roman"/>
                <a:sym typeface="Times New Roman"/>
              </a:rPr>
              <a:t> displays </a:t>
            </a:r>
            <a:r>
              <a:rPr b="1" lang="en" sz="1400">
                <a:latin typeface="Times New Roman"/>
                <a:ea typeface="Times New Roman"/>
                <a:cs typeface="Times New Roman"/>
                <a:sym typeface="Times New Roman"/>
              </a:rPr>
              <a:t>average runs scored</a:t>
            </a:r>
            <a:r>
              <a:rPr lang="en" sz="1400">
                <a:latin typeface="Times New Roman"/>
                <a:ea typeface="Times New Roman"/>
                <a:cs typeface="Times New Roman"/>
                <a:sym typeface="Times New Roman"/>
              </a:rPr>
              <a:t> along with </a:t>
            </a:r>
            <a:r>
              <a:rPr b="1" lang="en" sz="1400">
                <a:latin typeface="Times New Roman"/>
                <a:ea typeface="Times New Roman"/>
                <a:cs typeface="Times New Roman"/>
                <a:sym typeface="Times New Roman"/>
              </a:rPr>
              <a:t>matches played</a:t>
            </a:r>
            <a:r>
              <a:rPr lang="en" sz="1400">
                <a:latin typeface="Times New Roman"/>
                <a:ea typeface="Times New Roman"/>
                <a:cs typeface="Times New Roman"/>
                <a:sym typeface="Times New Roman"/>
              </a:rPr>
              <a:t> by each batsman, revealing players whose batting style is particularly effective at specific venues.</a:t>
            </a:r>
            <a:endParaRPr sz="1400">
              <a:latin typeface="Times New Roman"/>
              <a:ea typeface="Times New Roman"/>
              <a:cs typeface="Times New Roman"/>
              <a:sym typeface="Times New Roman"/>
            </a:endParaRPr>
          </a:p>
          <a:p>
            <a:pPr indent="0" lvl="0" marL="0" rtl="0" algn="l">
              <a:spcBef>
                <a:spcPts val="1200"/>
              </a:spcBef>
              <a:spcAft>
                <a:spcPts val="1200"/>
              </a:spcAft>
              <a:buNone/>
            </a:pPr>
            <a:r>
              <a:t/>
            </a:r>
            <a:endParaRPr sz="1400">
              <a:latin typeface="Times New Roman"/>
              <a:ea typeface="Times New Roman"/>
              <a:cs typeface="Times New Roman"/>
              <a:sym typeface="Times New Roman"/>
            </a:endParaRPr>
          </a:p>
        </p:txBody>
      </p:sp>
      <p:pic>
        <p:nvPicPr>
          <p:cNvPr id="128" name="Google Shape;128;p23"/>
          <p:cNvPicPr preferRelativeResize="0"/>
          <p:nvPr/>
        </p:nvPicPr>
        <p:blipFill>
          <a:blip r:embed="rId3">
            <a:alphaModFix/>
          </a:blip>
          <a:stretch>
            <a:fillRect/>
          </a:stretch>
        </p:blipFill>
        <p:spPr>
          <a:xfrm>
            <a:off x="501075" y="1213800"/>
            <a:ext cx="3914775" cy="1895475"/>
          </a:xfrm>
          <a:prstGeom prst="rect">
            <a:avLst/>
          </a:prstGeom>
          <a:noFill/>
          <a:ln>
            <a:noFill/>
          </a:ln>
        </p:spPr>
      </p:pic>
      <p:pic>
        <p:nvPicPr>
          <p:cNvPr id="129" name="Google Shape;129;p23"/>
          <p:cNvPicPr preferRelativeResize="0"/>
          <p:nvPr/>
        </p:nvPicPr>
        <p:blipFill>
          <a:blip r:embed="rId4">
            <a:alphaModFix/>
          </a:blip>
          <a:stretch>
            <a:fillRect/>
          </a:stretch>
        </p:blipFill>
        <p:spPr>
          <a:xfrm>
            <a:off x="4761400" y="1210625"/>
            <a:ext cx="3812887" cy="1901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Key Parameters for Selecting Players</a:t>
            </a:r>
            <a:endParaRPr b="1">
              <a:latin typeface="Times New Roman"/>
              <a:ea typeface="Times New Roman"/>
              <a:cs typeface="Times New Roman"/>
              <a:sym typeface="Times New Roman"/>
            </a:endParaRPr>
          </a:p>
        </p:txBody>
      </p:sp>
      <p:sp>
        <p:nvSpPr>
          <p:cNvPr id="135" name="Google Shape;135;p24"/>
          <p:cNvSpPr txBox="1"/>
          <p:nvPr>
            <p:ph idx="1" type="body"/>
          </p:nvPr>
        </p:nvSpPr>
        <p:spPr>
          <a:xfrm>
            <a:off x="311700" y="1171600"/>
            <a:ext cx="42603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latin typeface="Times New Roman"/>
                <a:ea typeface="Times New Roman"/>
                <a:cs typeface="Times New Roman"/>
                <a:sym typeface="Times New Roman"/>
              </a:rPr>
              <a:t>When selecting players for a cricket team, both batting and bowling metrics are crucial for overall team performance. Batting metrics such as total runs scored, batting average, and strike rate provide insights into a batter’s consistency, productivity, and ability to accelerate scoring. Similarly, for bowlers, total wickets taken, bowling average, economy rate, and strike rate (balls per wicket) help assess their wicket-taking ability, consistency, and ability to control the game. Focusing on these parameters ensures balanced team selection, enhancing both batting depth and bowling effectiveness.</a:t>
            </a:r>
            <a:endParaRPr sz="1400">
              <a:latin typeface="Times New Roman"/>
              <a:ea typeface="Times New Roman"/>
              <a:cs typeface="Times New Roman"/>
              <a:sym typeface="Times New Roman"/>
            </a:endParaRPr>
          </a:p>
        </p:txBody>
      </p:sp>
      <p:pic>
        <p:nvPicPr>
          <p:cNvPr id="136" name="Google Shape;136;p24"/>
          <p:cNvPicPr preferRelativeResize="0"/>
          <p:nvPr/>
        </p:nvPicPr>
        <p:blipFill>
          <a:blip r:embed="rId3">
            <a:alphaModFix/>
          </a:blip>
          <a:stretch>
            <a:fillRect/>
          </a:stretch>
        </p:blipFill>
        <p:spPr>
          <a:xfrm>
            <a:off x="4694500" y="1291588"/>
            <a:ext cx="4267200" cy="25603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Impact of Toss Decision</a:t>
            </a:r>
            <a:endParaRPr b="1">
              <a:latin typeface="Times New Roman"/>
              <a:ea typeface="Times New Roman"/>
              <a:cs typeface="Times New Roman"/>
              <a:sym typeface="Times New Roman"/>
            </a:endParaRPr>
          </a:p>
        </p:txBody>
      </p:sp>
      <p:sp>
        <p:nvSpPr>
          <p:cNvPr id="142" name="Google Shape;142;p25"/>
          <p:cNvSpPr txBox="1"/>
          <p:nvPr>
            <p:ph idx="1" type="body"/>
          </p:nvPr>
        </p:nvSpPr>
        <p:spPr>
          <a:xfrm>
            <a:off x="311700" y="3284825"/>
            <a:ext cx="8520600" cy="140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latin typeface="Times New Roman"/>
                <a:ea typeface="Times New Roman"/>
                <a:cs typeface="Times New Roman"/>
                <a:sym typeface="Times New Roman"/>
              </a:rPr>
              <a:t>This analysis examines the effect of the toss decision on match outcomes, exploring whether winning the toss gives a team a greater advantage, and if this effect is specific to certain venues. By calculating the toss win percentage for each venue, we can determine if the toss decision has a consistent impact across all locations or if specific venues amplify the importance of winning the toss.</a:t>
            </a:r>
            <a:endParaRPr sz="1400">
              <a:latin typeface="Times New Roman"/>
              <a:ea typeface="Times New Roman"/>
              <a:cs typeface="Times New Roman"/>
              <a:sym typeface="Times New Roman"/>
            </a:endParaRPr>
          </a:p>
        </p:txBody>
      </p:sp>
      <p:pic>
        <p:nvPicPr>
          <p:cNvPr id="143" name="Google Shape;143;p25"/>
          <p:cNvPicPr preferRelativeResize="0"/>
          <p:nvPr/>
        </p:nvPicPr>
        <p:blipFill>
          <a:blip r:embed="rId3">
            <a:alphaModFix/>
          </a:blip>
          <a:stretch>
            <a:fillRect/>
          </a:stretch>
        </p:blipFill>
        <p:spPr>
          <a:xfrm>
            <a:off x="1039775" y="1151700"/>
            <a:ext cx="7064450" cy="2039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28220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Top 20 Best Fit Players for the Team</a:t>
            </a:r>
            <a:endParaRPr b="1">
              <a:latin typeface="Times New Roman"/>
              <a:ea typeface="Times New Roman"/>
              <a:cs typeface="Times New Roman"/>
              <a:sym typeface="Times New Roman"/>
            </a:endParaRPr>
          </a:p>
        </p:txBody>
      </p:sp>
      <p:sp>
        <p:nvSpPr>
          <p:cNvPr id="149" name="Google Shape;149;p26"/>
          <p:cNvSpPr txBox="1"/>
          <p:nvPr>
            <p:ph idx="1" type="body"/>
          </p:nvPr>
        </p:nvSpPr>
        <p:spPr>
          <a:xfrm>
            <a:off x="311700" y="2975825"/>
            <a:ext cx="8520600" cy="1838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latin typeface="Times New Roman"/>
                <a:ea typeface="Times New Roman"/>
                <a:cs typeface="Times New Roman"/>
                <a:sym typeface="Times New Roman"/>
              </a:rPr>
              <a:t>This analysis identifies the top 20 players best suited for the team by evaluating both batting and bowling performance. We use the </a:t>
            </a:r>
            <a:r>
              <a:rPr b="1" lang="en" sz="1400">
                <a:latin typeface="Times New Roman"/>
                <a:ea typeface="Times New Roman"/>
                <a:cs typeface="Times New Roman"/>
                <a:sym typeface="Times New Roman"/>
              </a:rPr>
              <a:t>ball_by_ball</a:t>
            </a:r>
            <a:r>
              <a:rPr lang="en" sz="1400">
                <a:latin typeface="Times New Roman"/>
                <a:ea typeface="Times New Roman"/>
                <a:cs typeface="Times New Roman"/>
                <a:sym typeface="Times New Roman"/>
              </a:rPr>
              <a:t>, </a:t>
            </a:r>
            <a:r>
              <a:rPr b="1" lang="en" sz="1400">
                <a:latin typeface="Times New Roman"/>
                <a:ea typeface="Times New Roman"/>
                <a:cs typeface="Times New Roman"/>
                <a:sym typeface="Times New Roman"/>
              </a:rPr>
              <a:t>player</a:t>
            </a:r>
            <a:r>
              <a:rPr lang="en" sz="1400">
                <a:latin typeface="Times New Roman"/>
                <a:ea typeface="Times New Roman"/>
                <a:cs typeface="Times New Roman"/>
                <a:sym typeface="Times New Roman"/>
              </a:rPr>
              <a:t>, and </a:t>
            </a:r>
            <a:r>
              <a:rPr b="1" lang="en" sz="1400">
                <a:latin typeface="Times New Roman"/>
                <a:ea typeface="Times New Roman"/>
                <a:cs typeface="Times New Roman"/>
                <a:sym typeface="Times New Roman"/>
              </a:rPr>
              <a:t>wicket_taken</a:t>
            </a:r>
            <a:r>
              <a:rPr lang="en" sz="1400">
                <a:latin typeface="Times New Roman"/>
                <a:ea typeface="Times New Roman"/>
                <a:cs typeface="Times New Roman"/>
                <a:sym typeface="Times New Roman"/>
              </a:rPr>
              <a:t> tables to calculate key </a:t>
            </a:r>
            <a:r>
              <a:rPr b="1" lang="en" sz="1400">
                <a:latin typeface="Times New Roman"/>
                <a:ea typeface="Times New Roman"/>
                <a:cs typeface="Times New Roman"/>
                <a:sym typeface="Times New Roman"/>
              </a:rPr>
              <a:t>batting metrics</a:t>
            </a:r>
            <a:r>
              <a:rPr lang="en" sz="1400">
                <a:latin typeface="Times New Roman"/>
                <a:ea typeface="Times New Roman"/>
                <a:cs typeface="Times New Roman"/>
                <a:sym typeface="Times New Roman"/>
              </a:rPr>
              <a:t> like </a:t>
            </a:r>
            <a:r>
              <a:rPr b="1" lang="en" sz="1400">
                <a:latin typeface="Times New Roman"/>
                <a:ea typeface="Times New Roman"/>
                <a:cs typeface="Times New Roman"/>
                <a:sym typeface="Times New Roman"/>
              </a:rPr>
              <a:t>total runs</a:t>
            </a:r>
            <a:r>
              <a:rPr lang="en" sz="1400">
                <a:latin typeface="Times New Roman"/>
                <a:ea typeface="Times New Roman"/>
                <a:cs typeface="Times New Roman"/>
                <a:sym typeface="Times New Roman"/>
              </a:rPr>
              <a:t>, </a:t>
            </a:r>
            <a:r>
              <a:rPr b="1" lang="en" sz="1400">
                <a:latin typeface="Times New Roman"/>
                <a:ea typeface="Times New Roman"/>
                <a:cs typeface="Times New Roman"/>
                <a:sym typeface="Times New Roman"/>
              </a:rPr>
              <a:t>balls faced</a:t>
            </a:r>
            <a:r>
              <a:rPr lang="en" sz="1400">
                <a:latin typeface="Times New Roman"/>
                <a:ea typeface="Times New Roman"/>
                <a:cs typeface="Times New Roman"/>
                <a:sym typeface="Times New Roman"/>
              </a:rPr>
              <a:t>, </a:t>
            </a:r>
            <a:r>
              <a:rPr b="1" lang="en" sz="1400">
                <a:latin typeface="Times New Roman"/>
                <a:ea typeface="Times New Roman"/>
                <a:cs typeface="Times New Roman"/>
                <a:sym typeface="Times New Roman"/>
              </a:rPr>
              <a:t>times out</a:t>
            </a:r>
            <a:r>
              <a:rPr lang="en" sz="1400">
                <a:latin typeface="Times New Roman"/>
                <a:ea typeface="Times New Roman"/>
                <a:cs typeface="Times New Roman"/>
                <a:sym typeface="Times New Roman"/>
              </a:rPr>
              <a:t>, </a:t>
            </a:r>
            <a:r>
              <a:rPr b="1" lang="en" sz="1400">
                <a:latin typeface="Times New Roman"/>
                <a:ea typeface="Times New Roman"/>
                <a:cs typeface="Times New Roman"/>
                <a:sym typeface="Times New Roman"/>
              </a:rPr>
              <a:t>batting average</a:t>
            </a:r>
            <a:r>
              <a:rPr lang="en" sz="1400">
                <a:latin typeface="Times New Roman"/>
                <a:ea typeface="Times New Roman"/>
                <a:cs typeface="Times New Roman"/>
                <a:sym typeface="Times New Roman"/>
              </a:rPr>
              <a:t>, and </a:t>
            </a:r>
            <a:r>
              <a:rPr b="1" lang="en" sz="1400">
                <a:latin typeface="Times New Roman"/>
                <a:ea typeface="Times New Roman"/>
                <a:cs typeface="Times New Roman"/>
                <a:sym typeface="Times New Roman"/>
              </a:rPr>
              <a:t>strike rate</a:t>
            </a:r>
            <a:r>
              <a:rPr lang="en" sz="1400">
                <a:latin typeface="Times New Roman"/>
                <a:ea typeface="Times New Roman"/>
                <a:cs typeface="Times New Roman"/>
                <a:sym typeface="Times New Roman"/>
              </a:rPr>
              <a:t>, and for </a:t>
            </a:r>
            <a:r>
              <a:rPr b="1" lang="en" sz="1400">
                <a:latin typeface="Times New Roman"/>
                <a:ea typeface="Times New Roman"/>
                <a:cs typeface="Times New Roman"/>
                <a:sym typeface="Times New Roman"/>
              </a:rPr>
              <a:t>bowling metrics</a:t>
            </a:r>
            <a:r>
              <a:rPr lang="en" sz="1400">
                <a:latin typeface="Times New Roman"/>
                <a:ea typeface="Times New Roman"/>
                <a:cs typeface="Times New Roman"/>
                <a:sym typeface="Times New Roman"/>
              </a:rPr>
              <a:t> like </a:t>
            </a:r>
            <a:r>
              <a:rPr b="1" lang="en" sz="1400">
                <a:latin typeface="Times New Roman"/>
                <a:ea typeface="Times New Roman"/>
                <a:cs typeface="Times New Roman"/>
                <a:sym typeface="Times New Roman"/>
              </a:rPr>
              <a:t>total wickets</a:t>
            </a:r>
            <a:r>
              <a:rPr lang="en" sz="1400">
                <a:latin typeface="Times New Roman"/>
                <a:ea typeface="Times New Roman"/>
                <a:cs typeface="Times New Roman"/>
                <a:sym typeface="Times New Roman"/>
              </a:rPr>
              <a:t>, </a:t>
            </a:r>
            <a:r>
              <a:rPr b="1" lang="en" sz="1400">
                <a:latin typeface="Times New Roman"/>
                <a:ea typeface="Times New Roman"/>
                <a:cs typeface="Times New Roman"/>
                <a:sym typeface="Times New Roman"/>
              </a:rPr>
              <a:t>economy rate</a:t>
            </a:r>
            <a:r>
              <a:rPr lang="en" sz="1400">
                <a:latin typeface="Times New Roman"/>
                <a:ea typeface="Times New Roman"/>
                <a:cs typeface="Times New Roman"/>
                <a:sym typeface="Times New Roman"/>
              </a:rPr>
              <a:t>, and </a:t>
            </a:r>
            <a:r>
              <a:rPr b="1" lang="en" sz="1400">
                <a:latin typeface="Times New Roman"/>
                <a:ea typeface="Times New Roman"/>
                <a:cs typeface="Times New Roman"/>
                <a:sym typeface="Times New Roman"/>
              </a:rPr>
              <a:t>strike rate</a:t>
            </a:r>
            <a:r>
              <a:rPr lang="en" sz="1400">
                <a:latin typeface="Times New Roman"/>
                <a:ea typeface="Times New Roman"/>
                <a:cs typeface="Times New Roman"/>
                <a:sym typeface="Times New Roman"/>
              </a:rPr>
              <a:t>. The query filters for players with </a:t>
            </a:r>
            <a:r>
              <a:rPr b="1" lang="en" sz="1400">
                <a:latin typeface="Times New Roman"/>
                <a:ea typeface="Times New Roman"/>
                <a:cs typeface="Times New Roman"/>
                <a:sym typeface="Times New Roman"/>
              </a:rPr>
              <a:t>100+ balls faced</a:t>
            </a:r>
            <a:r>
              <a:rPr lang="en" sz="1400">
                <a:latin typeface="Times New Roman"/>
                <a:ea typeface="Times New Roman"/>
                <a:cs typeface="Times New Roman"/>
                <a:sym typeface="Times New Roman"/>
              </a:rPr>
              <a:t> for batsmen and evaluates bowlers based on their wicket-taking ability. Players are then ranked by their overall performance in both batting and bowling to highlight those who bring balanced contributions to the team.</a:t>
            </a:r>
            <a:endParaRPr sz="1400">
              <a:latin typeface="Times New Roman"/>
              <a:ea typeface="Times New Roman"/>
              <a:cs typeface="Times New Roman"/>
              <a:sym typeface="Times New Roman"/>
            </a:endParaRPr>
          </a:p>
        </p:txBody>
      </p:sp>
      <p:pic>
        <p:nvPicPr>
          <p:cNvPr id="150" name="Google Shape;150;p26"/>
          <p:cNvPicPr preferRelativeResize="0"/>
          <p:nvPr/>
        </p:nvPicPr>
        <p:blipFill>
          <a:blip r:embed="rId3">
            <a:alphaModFix/>
          </a:blip>
          <a:stretch>
            <a:fillRect/>
          </a:stretch>
        </p:blipFill>
        <p:spPr>
          <a:xfrm>
            <a:off x="521225" y="976875"/>
            <a:ext cx="7532950" cy="1998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 Identifying Versatile All-rounders</a:t>
            </a:r>
            <a:endParaRPr b="1">
              <a:latin typeface="Times New Roman"/>
              <a:ea typeface="Times New Roman"/>
              <a:cs typeface="Times New Roman"/>
              <a:sym typeface="Times New Roman"/>
            </a:endParaRPr>
          </a:p>
        </p:txBody>
      </p:sp>
      <p:sp>
        <p:nvSpPr>
          <p:cNvPr id="156" name="Google Shape;156;p27"/>
          <p:cNvSpPr txBox="1"/>
          <p:nvPr>
            <p:ph idx="1" type="body"/>
          </p:nvPr>
        </p:nvSpPr>
        <p:spPr>
          <a:xfrm>
            <a:off x="311700" y="1171600"/>
            <a:ext cx="42603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latin typeface="Times New Roman"/>
                <a:ea typeface="Times New Roman"/>
                <a:cs typeface="Times New Roman"/>
                <a:sym typeface="Times New Roman"/>
              </a:rPr>
              <a:t>This analysis identifies players who offer versatility by contributing effectively with both bat and ball. By aggregating key batting and bowling metrics, such as total runs scored, batting average, wickets taken, and bowling average, we calculate an all-rounder score for each player. The query combines data from multiple sources—</a:t>
            </a:r>
            <a:r>
              <a:rPr lang="en" sz="1400">
                <a:solidFill>
                  <a:srgbClr val="188038"/>
                </a:solidFill>
                <a:latin typeface="Times New Roman"/>
                <a:ea typeface="Times New Roman"/>
                <a:cs typeface="Times New Roman"/>
                <a:sym typeface="Times New Roman"/>
              </a:rPr>
              <a:t>player</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ball_by_ball</a:t>
            </a:r>
            <a:r>
              <a:rPr lang="en" sz="1400">
                <a:latin typeface="Times New Roman"/>
                <a:ea typeface="Times New Roman"/>
                <a:cs typeface="Times New Roman"/>
                <a:sym typeface="Times New Roman"/>
              </a:rPr>
              <a:t>, </a:t>
            </a:r>
            <a:r>
              <a:rPr lang="en" sz="1400">
                <a:solidFill>
                  <a:srgbClr val="188038"/>
                </a:solidFill>
                <a:latin typeface="Times New Roman"/>
                <a:ea typeface="Times New Roman"/>
                <a:cs typeface="Times New Roman"/>
                <a:sym typeface="Times New Roman"/>
              </a:rPr>
              <a:t>wicket_taken</a:t>
            </a:r>
            <a:r>
              <a:rPr lang="en" sz="1400">
                <a:latin typeface="Times New Roman"/>
                <a:ea typeface="Times New Roman"/>
                <a:cs typeface="Times New Roman"/>
                <a:sym typeface="Times New Roman"/>
              </a:rPr>
              <a:t>, and </a:t>
            </a:r>
            <a:r>
              <a:rPr lang="en" sz="1400">
                <a:solidFill>
                  <a:srgbClr val="188038"/>
                </a:solidFill>
                <a:latin typeface="Times New Roman"/>
                <a:ea typeface="Times New Roman"/>
                <a:cs typeface="Times New Roman"/>
                <a:sym typeface="Times New Roman"/>
              </a:rPr>
              <a:t>matches</a:t>
            </a:r>
            <a:r>
              <a:rPr lang="en" sz="1400">
                <a:latin typeface="Times New Roman"/>
                <a:ea typeface="Times New Roman"/>
                <a:cs typeface="Times New Roman"/>
                <a:sym typeface="Times New Roman"/>
              </a:rPr>
              <a:t>—to assess their performance across both disciplines. Players with significant participation and balanced contributions are ranked to highlight the top 20 all-rounders. Visualization of these all-rounders' stats would clearly show their dual impact, making it easier to spot key players who can strengthen the team.</a:t>
            </a:r>
            <a:endParaRPr sz="1400">
              <a:latin typeface="Times New Roman"/>
              <a:ea typeface="Times New Roman"/>
              <a:cs typeface="Times New Roman"/>
              <a:sym typeface="Times New Roman"/>
            </a:endParaRPr>
          </a:p>
        </p:txBody>
      </p:sp>
      <p:pic>
        <p:nvPicPr>
          <p:cNvPr id="157" name="Google Shape;157;p27"/>
          <p:cNvPicPr preferRelativeResize="0"/>
          <p:nvPr/>
        </p:nvPicPr>
        <p:blipFill>
          <a:blip r:embed="rId3">
            <a:alphaModFix/>
          </a:blip>
          <a:stretch>
            <a:fillRect/>
          </a:stretch>
        </p:blipFill>
        <p:spPr>
          <a:xfrm>
            <a:off x="4475650" y="1058225"/>
            <a:ext cx="4300426" cy="3267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Maximizing Home-Ground Advantage for RCB</a:t>
            </a:r>
            <a:endParaRPr b="1">
              <a:latin typeface="Times New Roman"/>
              <a:ea typeface="Times New Roman"/>
              <a:cs typeface="Times New Roman"/>
              <a:sym typeface="Times New Roman"/>
            </a:endParaRPr>
          </a:p>
        </p:txBody>
      </p:sp>
      <p:sp>
        <p:nvSpPr>
          <p:cNvPr id="163" name="Google Shape;163;p28"/>
          <p:cNvSpPr txBox="1"/>
          <p:nvPr>
            <p:ph idx="1" type="body"/>
          </p:nvPr>
        </p:nvSpPr>
        <p:spPr>
          <a:xfrm>
            <a:off x="311700" y="1109350"/>
            <a:ext cx="4672200" cy="3459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400">
                <a:latin typeface="Times New Roman"/>
                <a:ea typeface="Times New Roman"/>
                <a:cs typeface="Times New Roman"/>
                <a:sym typeface="Times New Roman"/>
              </a:rPr>
              <a:t>RCB can leverage the home-ground advantage at M. Chinnaswamy Stadium to enhance team performance and increase their chances of success. Given the high-scoring nature of the stadium, RCB should </a:t>
            </a:r>
            <a:r>
              <a:rPr b="1" lang="en" sz="1400">
                <a:latin typeface="Times New Roman"/>
                <a:ea typeface="Times New Roman"/>
                <a:cs typeface="Times New Roman"/>
                <a:sym typeface="Times New Roman"/>
              </a:rPr>
              <a:t>strengthen their bowling attack</a:t>
            </a:r>
            <a:r>
              <a:rPr lang="en" sz="1400">
                <a:latin typeface="Times New Roman"/>
                <a:ea typeface="Times New Roman"/>
                <a:cs typeface="Times New Roman"/>
                <a:sym typeface="Times New Roman"/>
              </a:rPr>
              <a:t> by investing in </a:t>
            </a:r>
            <a:r>
              <a:rPr b="1" lang="en" sz="1400">
                <a:latin typeface="Times New Roman"/>
                <a:ea typeface="Times New Roman"/>
                <a:cs typeface="Times New Roman"/>
                <a:sym typeface="Times New Roman"/>
              </a:rPr>
              <a:t>death-over specialists and spinners</a:t>
            </a:r>
            <a:r>
              <a:rPr lang="en" sz="1400">
                <a:latin typeface="Times New Roman"/>
                <a:ea typeface="Times New Roman"/>
                <a:cs typeface="Times New Roman"/>
                <a:sym typeface="Times New Roman"/>
              </a:rPr>
              <a:t> who can control run flow with variations. For batting, they should </a:t>
            </a:r>
            <a:r>
              <a:rPr b="1" lang="en" sz="1400">
                <a:latin typeface="Times New Roman"/>
                <a:ea typeface="Times New Roman"/>
                <a:cs typeface="Times New Roman"/>
                <a:sym typeface="Times New Roman"/>
              </a:rPr>
              <a:t>maximize power play exploitation</a:t>
            </a:r>
            <a:r>
              <a:rPr lang="en" sz="1400">
                <a:latin typeface="Times New Roman"/>
                <a:ea typeface="Times New Roman"/>
                <a:cs typeface="Times New Roman"/>
                <a:sym typeface="Times New Roman"/>
              </a:rPr>
              <a:t> by selecting </a:t>
            </a:r>
            <a:r>
              <a:rPr b="1" lang="en" sz="1400">
                <a:latin typeface="Times New Roman"/>
                <a:ea typeface="Times New Roman"/>
                <a:cs typeface="Times New Roman"/>
                <a:sym typeface="Times New Roman"/>
              </a:rPr>
              <a:t>aggressive top-order batsmen</a:t>
            </a:r>
            <a:r>
              <a:rPr lang="en" sz="1400">
                <a:latin typeface="Times New Roman"/>
                <a:ea typeface="Times New Roman"/>
                <a:cs typeface="Times New Roman"/>
                <a:sym typeface="Times New Roman"/>
              </a:rPr>
              <a:t> capable of taking advantage of the pitch's conditions. The team should tailor their strategies to suit venue conditions, focusing on matchups and rotational selection for bowlers. </a:t>
            </a:r>
            <a:r>
              <a:rPr b="1" lang="en" sz="1400">
                <a:latin typeface="Times New Roman"/>
                <a:ea typeface="Times New Roman"/>
                <a:cs typeface="Times New Roman"/>
                <a:sym typeface="Times New Roman"/>
              </a:rPr>
              <a:t>Leverage the crowd support</a:t>
            </a:r>
            <a:r>
              <a:rPr lang="en" sz="1400">
                <a:latin typeface="Times New Roman"/>
                <a:ea typeface="Times New Roman"/>
                <a:cs typeface="Times New Roman"/>
                <a:sym typeface="Times New Roman"/>
              </a:rPr>
              <a:t> to apply pressure on opponents and build confidence. Finally, RCB should </a:t>
            </a:r>
            <a:r>
              <a:rPr b="1" lang="en" sz="1400">
                <a:latin typeface="Times New Roman"/>
                <a:ea typeface="Times New Roman"/>
                <a:cs typeface="Times New Roman"/>
                <a:sym typeface="Times New Roman"/>
              </a:rPr>
              <a:t>analyze opposition weaknesses</a:t>
            </a:r>
            <a:r>
              <a:rPr lang="en" sz="1400">
                <a:latin typeface="Times New Roman"/>
                <a:ea typeface="Times New Roman"/>
                <a:cs typeface="Times New Roman"/>
                <a:sym typeface="Times New Roman"/>
              </a:rPr>
              <a:t> at home and use those insights to exploit vulnerabilities, especially when opponents have poor away records at Chinnaswamy.</a:t>
            </a:r>
            <a:endParaRPr sz="1400">
              <a:latin typeface="Times New Roman"/>
              <a:ea typeface="Times New Roman"/>
              <a:cs typeface="Times New Roman"/>
              <a:sym typeface="Times New Roman"/>
            </a:endParaRPr>
          </a:p>
        </p:txBody>
      </p:sp>
      <p:pic>
        <p:nvPicPr>
          <p:cNvPr id="164" name="Google Shape;164;p28"/>
          <p:cNvPicPr preferRelativeResize="0"/>
          <p:nvPr/>
        </p:nvPicPr>
        <p:blipFill>
          <a:blip r:embed="rId3">
            <a:alphaModFix/>
          </a:blip>
          <a:stretch>
            <a:fillRect/>
          </a:stretch>
        </p:blipFill>
        <p:spPr>
          <a:xfrm>
            <a:off x="5103625" y="1717400"/>
            <a:ext cx="3728675" cy="2090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RCB's Past Season Performance</a:t>
            </a:r>
            <a:endParaRPr b="1">
              <a:latin typeface="Times New Roman"/>
              <a:ea typeface="Times New Roman"/>
              <a:cs typeface="Times New Roman"/>
              <a:sym typeface="Times New Roman"/>
            </a:endParaRPr>
          </a:p>
        </p:txBody>
      </p:sp>
      <p:sp>
        <p:nvSpPr>
          <p:cNvPr id="170" name="Google Shape;170;p29"/>
          <p:cNvSpPr txBox="1"/>
          <p:nvPr>
            <p:ph idx="1" type="body"/>
          </p:nvPr>
        </p:nvSpPr>
        <p:spPr>
          <a:xfrm>
            <a:off x="311700" y="1171600"/>
            <a:ext cx="4260300" cy="3397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400">
                <a:latin typeface="Times New Roman"/>
                <a:ea typeface="Times New Roman"/>
                <a:cs typeface="Times New Roman"/>
                <a:sym typeface="Times New Roman"/>
              </a:rPr>
              <a:t>Royal Challengers Bangalore's (RCB) performance over multiple seasons by focusing on key metrics such as total wins, losses, average runs scored, and average runs conceded. By calculating these parameters, we can identify patterns and trends that influence RCB's success or lack thereof in various seasons. The data provides insights into which aspects of their performance, whether batting or bowling, need improvement. For example, high average runs conceded or a weak middle-order batting performance in certain seasons may have contributed to their inability to win the trophy. This analytical approach will help the team focus on areas needing attention and refine their strategies for future seasons.</a:t>
            </a:r>
            <a:endParaRPr sz="1400">
              <a:latin typeface="Times New Roman"/>
              <a:ea typeface="Times New Roman"/>
              <a:cs typeface="Times New Roman"/>
              <a:sym typeface="Times New Roman"/>
            </a:endParaRPr>
          </a:p>
        </p:txBody>
      </p:sp>
      <p:pic>
        <p:nvPicPr>
          <p:cNvPr id="171" name="Google Shape;171;p29"/>
          <p:cNvPicPr preferRelativeResize="0"/>
          <p:nvPr/>
        </p:nvPicPr>
        <p:blipFill>
          <a:blip r:embed="rId3">
            <a:alphaModFix/>
          </a:blip>
          <a:stretch>
            <a:fillRect/>
          </a:stretch>
        </p:blipFill>
        <p:spPr>
          <a:xfrm>
            <a:off x="5273075" y="1414050"/>
            <a:ext cx="3468875" cy="2315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300">
                <a:latin typeface="Times New Roman"/>
                <a:ea typeface="Times New Roman"/>
                <a:cs typeface="Times New Roman"/>
                <a:sym typeface="Times New Roman"/>
              </a:rPr>
              <a:t>Strategic Recommendations for RCB Ahead of the Mega Auction</a:t>
            </a:r>
            <a:endParaRPr b="1" sz="2300">
              <a:latin typeface="Times New Roman"/>
              <a:ea typeface="Times New Roman"/>
              <a:cs typeface="Times New Roman"/>
              <a:sym typeface="Times New Roman"/>
            </a:endParaRPr>
          </a:p>
        </p:txBody>
      </p:sp>
      <p:sp>
        <p:nvSpPr>
          <p:cNvPr id="177" name="Google Shape;177;p30"/>
          <p:cNvSpPr txBox="1"/>
          <p:nvPr>
            <p:ph idx="1" type="body"/>
          </p:nvPr>
        </p:nvSpPr>
        <p:spPr>
          <a:xfrm>
            <a:off x="311700" y="1156300"/>
            <a:ext cx="8320500" cy="353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latin typeface="Times New Roman"/>
                <a:ea typeface="Times New Roman"/>
                <a:cs typeface="Times New Roman"/>
                <a:sym typeface="Times New Roman"/>
              </a:rPr>
              <a:t>Before heading into the mega auction, RCB should strategically focus on specific areas to strengthen their squad. First, prioritizing </a:t>
            </a:r>
            <a:r>
              <a:rPr b="1" lang="en" sz="1400">
                <a:latin typeface="Times New Roman"/>
                <a:ea typeface="Times New Roman"/>
                <a:cs typeface="Times New Roman"/>
                <a:sym typeface="Times New Roman"/>
              </a:rPr>
              <a:t>death-over batting power</a:t>
            </a:r>
            <a:r>
              <a:rPr lang="en" sz="1400">
                <a:latin typeface="Times New Roman"/>
                <a:ea typeface="Times New Roman"/>
                <a:cs typeface="Times New Roman"/>
                <a:sym typeface="Times New Roman"/>
              </a:rPr>
              <a:t> with players who excel in the final overs and have high strike rates will be vital for finishing games strongly.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n" sz="1400">
                <a:latin typeface="Times New Roman"/>
                <a:ea typeface="Times New Roman"/>
                <a:cs typeface="Times New Roman"/>
                <a:sym typeface="Times New Roman"/>
              </a:rPr>
              <a:t>In bowling, acquiring </a:t>
            </a:r>
            <a:r>
              <a:rPr b="1" lang="en" sz="1400">
                <a:latin typeface="Times New Roman"/>
                <a:ea typeface="Times New Roman"/>
                <a:cs typeface="Times New Roman"/>
                <a:sym typeface="Times New Roman"/>
              </a:rPr>
              <a:t>economical bowlers</a:t>
            </a:r>
            <a:r>
              <a:rPr lang="en" sz="1400">
                <a:latin typeface="Times New Roman"/>
                <a:ea typeface="Times New Roman"/>
                <a:cs typeface="Times New Roman"/>
                <a:sym typeface="Times New Roman"/>
              </a:rPr>
              <a:t> with low economy rates will help control the game and apply pressure, especially during key moments. RCB should also aim to bring in </a:t>
            </a:r>
            <a:r>
              <a:rPr b="1" lang="en" sz="1400">
                <a:latin typeface="Times New Roman"/>
                <a:ea typeface="Times New Roman"/>
                <a:cs typeface="Times New Roman"/>
                <a:sym typeface="Times New Roman"/>
              </a:rPr>
              <a:t>all-rounders</a:t>
            </a:r>
            <a:r>
              <a:rPr lang="en" sz="1400">
                <a:latin typeface="Times New Roman"/>
                <a:ea typeface="Times New Roman"/>
                <a:cs typeface="Times New Roman"/>
                <a:sym typeface="Times New Roman"/>
              </a:rPr>
              <a:t> who can contribute consistently with both bat and ball, ensuring a balanced team. </a:t>
            </a:r>
            <a:endParaRPr sz="1400">
              <a:latin typeface="Times New Roman"/>
              <a:ea typeface="Times New Roman"/>
              <a:cs typeface="Times New Roman"/>
              <a:sym typeface="Times New Roman"/>
            </a:endParaRPr>
          </a:p>
          <a:p>
            <a:pPr indent="0" lvl="0" marL="0" rtl="0" algn="l">
              <a:spcBef>
                <a:spcPts val="1200"/>
              </a:spcBef>
              <a:spcAft>
                <a:spcPts val="1200"/>
              </a:spcAft>
              <a:buNone/>
            </a:pPr>
            <a:r>
              <a:rPr lang="en" sz="1400">
                <a:latin typeface="Times New Roman"/>
                <a:ea typeface="Times New Roman"/>
                <a:cs typeface="Times New Roman"/>
                <a:sym typeface="Times New Roman"/>
              </a:rPr>
              <a:t>A </a:t>
            </a:r>
            <a:r>
              <a:rPr b="1" lang="en" sz="1400">
                <a:latin typeface="Times New Roman"/>
                <a:ea typeface="Times New Roman"/>
                <a:cs typeface="Times New Roman"/>
                <a:sym typeface="Times New Roman"/>
              </a:rPr>
              <a:t>blend of experience and youth</a:t>
            </a:r>
            <a:r>
              <a:rPr lang="en" sz="1400">
                <a:latin typeface="Times New Roman"/>
                <a:ea typeface="Times New Roman"/>
                <a:cs typeface="Times New Roman"/>
                <a:sym typeface="Times New Roman"/>
              </a:rPr>
              <a:t> will provide stability and fresh energy, while targeting </a:t>
            </a:r>
            <a:r>
              <a:rPr b="1" lang="en" sz="1400">
                <a:latin typeface="Times New Roman"/>
                <a:ea typeface="Times New Roman"/>
                <a:cs typeface="Times New Roman"/>
                <a:sym typeface="Times New Roman"/>
              </a:rPr>
              <a:t>middle-order batters</a:t>
            </a:r>
            <a:r>
              <a:rPr lang="en" sz="1400">
                <a:latin typeface="Times New Roman"/>
                <a:ea typeface="Times New Roman"/>
                <a:cs typeface="Times New Roman"/>
                <a:sym typeface="Times New Roman"/>
              </a:rPr>
              <a:t> with a track record of consistency under pressure will help address vulnerabilities. Lastly, focusing on </a:t>
            </a:r>
            <a:r>
              <a:rPr b="1" lang="en" sz="1400">
                <a:latin typeface="Times New Roman"/>
                <a:ea typeface="Times New Roman"/>
                <a:cs typeface="Times New Roman"/>
                <a:sym typeface="Times New Roman"/>
              </a:rPr>
              <a:t>spin options for middle overs</a:t>
            </a:r>
            <a:r>
              <a:rPr lang="en" sz="1400">
                <a:latin typeface="Times New Roman"/>
                <a:ea typeface="Times New Roman"/>
                <a:cs typeface="Times New Roman"/>
                <a:sym typeface="Times New Roman"/>
              </a:rPr>
              <a:t> will allow RCB to dominate the game in the crucial overs 7–15</a:t>
            </a:r>
            <a:endParaRPr sz="14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Future of IPL: Predictions &amp; Growth</a:t>
            </a:r>
            <a:endParaRPr b="1">
              <a:latin typeface="Times New Roman"/>
              <a:ea typeface="Times New Roman"/>
              <a:cs typeface="Times New Roman"/>
              <a:sym typeface="Times New Roman"/>
            </a:endParaRPr>
          </a:p>
        </p:txBody>
      </p:sp>
      <p:sp>
        <p:nvSpPr>
          <p:cNvPr id="183" name="Google Shape;183;p31"/>
          <p:cNvSpPr txBox="1"/>
          <p:nvPr>
            <p:ph idx="1" type="body"/>
          </p:nvPr>
        </p:nvSpPr>
        <p:spPr>
          <a:xfrm>
            <a:off x="311700" y="1171600"/>
            <a:ext cx="54000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latin typeface="Times New Roman"/>
                <a:ea typeface="Times New Roman"/>
                <a:cs typeface="Times New Roman"/>
                <a:sym typeface="Times New Roman"/>
              </a:rPr>
              <a:t>The IPL is poised to become even more competitive with the introduction of new teams and the rise of emerging young talent, each with their distinct batting and bowling styles. </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n" sz="1400">
                <a:latin typeface="Times New Roman"/>
                <a:ea typeface="Times New Roman"/>
                <a:cs typeface="Times New Roman"/>
                <a:sym typeface="Times New Roman"/>
              </a:rPr>
              <a:t>As the league continues to attract international players, it is expected to further elevate the level of play, inspiring a new generation of cricket fans. With increasing fan engagement, both in stadiums and online, the IPL’s global impact is evident. </a:t>
            </a:r>
            <a:endParaRPr sz="1400">
              <a:latin typeface="Times New Roman"/>
              <a:ea typeface="Times New Roman"/>
              <a:cs typeface="Times New Roman"/>
              <a:sym typeface="Times New Roman"/>
            </a:endParaRPr>
          </a:p>
          <a:p>
            <a:pPr indent="0" lvl="0" marL="0" rtl="0" algn="l">
              <a:spcBef>
                <a:spcPts val="1200"/>
              </a:spcBef>
              <a:spcAft>
                <a:spcPts val="1200"/>
              </a:spcAft>
              <a:buNone/>
            </a:pPr>
            <a:r>
              <a:rPr lang="en" sz="1400">
                <a:latin typeface="Times New Roman"/>
                <a:ea typeface="Times New Roman"/>
                <a:cs typeface="Times New Roman"/>
                <a:sym typeface="Times New Roman"/>
              </a:rPr>
              <a:t>The growing fan following signifies not only the league’s success but also its bright future in shaping the global cricketing landscape. The next few seasons will likely witness thrilling contests, more international players, and larger-than-ever fan bases.</a:t>
            </a:r>
            <a:endParaRPr sz="1400">
              <a:latin typeface="Times New Roman"/>
              <a:ea typeface="Times New Roman"/>
              <a:cs typeface="Times New Roman"/>
              <a:sym typeface="Times New Roman"/>
            </a:endParaRPr>
          </a:p>
        </p:txBody>
      </p:sp>
      <p:pic>
        <p:nvPicPr>
          <p:cNvPr id="184" name="Google Shape;184;p31"/>
          <p:cNvPicPr preferRelativeResize="0"/>
          <p:nvPr/>
        </p:nvPicPr>
        <p:blipFill>
          <a:blip r:embed="rId3">
            <a:alphaModFix/>
          </a:blip>
          <a:stretch>
            <a:fillRect/>
          </a:stretch>
        </p:blipFill>
        <p:spPr>
          <a:xfrm>
            <a:off x="5375200" y="739075"/>
            <a:ext cx="3665349" cy="36653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Acknowledgments &amp; References</a:t>
            </a:r>
            <a:endParaRPr b="1">
              <a:latin typeface="Times New Roman"/>
              <a:ea typeface="Times New Roman"/>
              <a:cs typeface="Times New Roman"/>
              <a:sym typeface="Times New Roman"/>
            </a:endParaRPr>
          </a:p>
        </p:txBody>
      </p:sp>
      <p:sp>
        <p:nvSpPr>
          <p:cNvPr id="190" name="Google Shape;190;p32"/>
          <p:cNvSpPr txBox="1"/>
          <p:nvPr>
            <p:ph idx="1" type="body"/>
          </p:nvPr>
        </p:nvSpPr>
        <p:spPr>
          <a:xfrm>
            <a:off x="311700" y="1171600"/>
            <a:ext cx="5599200" cy="3397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400">
                <a:latin typeface="Times New Roman"/>
                <a:ea typeface="Times New Roman"/>
                <a:cs typeface="Times New Roman"/>
                <a:sym typeface="Times New Roman"/>
              </a:rPr>
              <a:t>Data for this analysis was provided by </a:t>
            </a:r>
            <a:r>
              <a:rPr b="1" lang="en" sz="1400">
                <a:latin typeface="Times New Roman"/>
                <a:ea typeface="Times New Roman"/>
                <a:cs typeface="Times New Roman"/>
                <a:sym typeface="Times New Roman"/>
              </a:rPr>
              <a:t>Newton School</a:t>
            </a:r>
            <a:r>
              <a:rPr lang="en" sz="1400">
                <a:latin typeface="Times New Roman"/>
                <a:ea typeface="Times New Roman"/>
                <a:cs typeface="Times New Roman"/>
                <a:sym typeface="Times New Roman"/>
              </a:rPr>
              <a:t>. Additional insights and knowledge on cricket terms were sourced using </a:t>
            </a:r>
            <a:r>
              <a:rPr b="1" lang="en" sz="1400">
                <a:latin typeface="Times New Roman"/>
                <a:ea typeface="Times New Roman"/>
                <a:cs typeface="Times New Roman"/>
                <a:sym typeface="Times New Roman"/>
              </a:rPr>
              <a:t>Google</a:t>
            </a:r>
            <a:r>
              <a:rPr lang="en" sz="1400">
                <a:latin typeface="Times New Roman"/>
                <a:ea typeface="Times New Roman"/>
                <a:cs typeface="Times New Roman"/>
                <a:sym typeface="Times New Roman"/>
              </a:rPr>
              <a:t>. The following applications were employed for the project:</a:t>
            </a:r>
            <a:endParaRPr sz="1400">
              <a:latin typeface="Times New Roman"/>
              <a:ea typeface="Times New Roman"/>
              <a:cs typeface="Times New Roman"/>
              <a:sym typeface="Times New Roman"/>
            </a:endParaRPr>
          </a:p>
          <a:p>
            <a:pPr indent="-317500" lvl="0" marL="457200" rtl="0" algn="l">
              <a:spcBef>
                <a:spcPts val="1200"/>
              </a:spcBef>
              <a:spcAft>
                <a:spcPts val="0"/>
              </a:spcAft>
              <a:buSzPts val="1400"/>
              <a:buFont typeface="Arial"/>
              <a:buChar char="●"/>
            </a:pPr>
            <a:r>
              <a:rPr b="1" lang="en" sz="1400">
                <a:latin typeface="Times New Roman"/>
                <a:ea typeface="Times New Roman"/>
                <a:cs typeface="Times New Roman"/>
                <a:sym typeface="Times New Roman"/>
              </a:rPr>
              <a:t>Microsoft Word</a:t>
            </a:r>
            <a:r>
              <a:rPr lang="en" sz="1400">
                <a:latin typeface="Times New Roman"/>
                <a:ea typeface="Times New Roman"/>
                <a:cs typeface="Times New Roman"/>
                <a:sym typeface="Times New Roman"/>
              </a:rPr>
              <a:t> for documentation.</a:t>
            </a:r>
            <a:br>
              <a:rPr lang="en"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Arial"/>
              <a:buChar char="●"/>
            </a:pPr>
            <a:r>
              <a:rPr b="1" lang="en" sz="1400">
                <a:latin typeface="Times New Roman"/>
                <a:ea typeface="Times New Roman"/>
                <a:cs typeface="Times New Roman"/>
                <a:sym typeface="Times New Roman"/>
              </a:rPr>
              <a:t>Microsoft PowerPoint</a:t>
            </a:r>
            <a:r>
              <a:rPr lang="en" sz="1400">
                <a:latin typeface="Times New Roman"/>
                <a:ea typeface="Times New Roman"/>
                <a:cs typeface="Times New Roman"/>
                <a:sym typeface="Times New Roman"/>
              </a:rPr>
              <a:t> for creating the presentation.</a:t>
            </a:r>
            <a:br>
              <a:rPr lang="en"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Arial"/>
              <a:buChar char="●"/>
            </a:pPr>
            <a:r>
              <a:rPr lang="en" sz="1400">
                <a:latin typeface="Times New Roman"/>
                <a:ea typeface="Times New Roman"/>
                <a:cs typeface="Times New Roman"/>
                <a:sym typeface="Times New Roman"/>
              </a:rPr>
              <a:t> </a:t>
            </a:r>
            <a:r>
              <a:rPr b="1" lang="en" sz="1400">
                <a:latin typeface="Times New Roman"/>
                <a:ea typeface="Times New Roman"/>
                <a:cs typeface="Times New Roman"/>
                <a:sym typeface="Times New Roman"/>
              </a:rPr>
              <a:t>Power BI</a:t>
            </a:r>
            <a:r>
              <a:rPr lang="en" sz="1400">
                <a:latin typeface="Times New Roman"/>
                <a:ea typeface="Times New Roman"/>
                <a:cs typeface="Times New Roman"/>
                <a:sym typeface="Times New Roman"/>
              </a:rPr>
              <a:t> for visualizations.</a:t>
            </a:r>
            <a:br>
              <a:rPr lang="en"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Arial"/>
              <a:buChar char="●"/>
            </a:pPr>
            <a:r>
              <a:rPr b="1" lang="en" sz="1400">
                <a:latin typeface="Times New Roman"/>
                <a:ea typeface="Times New Roman"/>
                <a:cs typeface="Times New Roman"/>
                <a:sym typeface="Times New Roman"/>
              </a:rPr>
              <a:t>SQL</a:t>
            </a:r>
            <a:r>
              <a:rPr lang="en" sz="1400">
                <a:latin typeface="Times New Roman"/>
                <a:ea typeface="Times New Roman"/>
                <a:cs typeface="Times New Roman"/>
                <a:sym typeface="Times New Roman"/>
              </a:rPr>
              <a:t> for querying and data extraction.</a:t>
            </a:r>
            <a:endParaRPr sz="14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pic>
        <p:nvPicPr>
          <p:cNvPr id="191" name="Google Shape;191;p32"/>
          <p:cNvPicPr preferRelativeResize="0"/>
          <p:nvPr/>
        </p:nvPicPr>
        <p:blipFill>
          <a:blip r:embed="rId3">
            <a:alphaModFix/>
          </a:blip>
          <a:stretch>
            <a:fillRect/>
          </a:stretch>
        </p:blipFill>
        <p:spPr>
          <a:xfrm>
            <a:off x="4805575" y="1963704"/>
            <a:ext cx="3767375" cy="2332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3"/>
          <p:cNvPicPr preferRelativeResize="0"/>
          <p:nvPr/>
        </p:nvPicPr>
        <p:blipFill>
          <a:blip r:embed="rId3">
            <a:alphaModFix/>
          </a:blip>
          <a:stretch>
            <a:fillRect/>
          </a:stretch>
        </p:blipFill>
        <p:spPr>
          <a:xfrm>
            <a:off x="2385225" y="152400"/>
            <a:ext cx="4838700"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